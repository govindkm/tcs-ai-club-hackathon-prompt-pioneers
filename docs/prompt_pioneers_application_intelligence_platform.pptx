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5DC8A6"/>
          </a:solidFill>
          <a:ln>
            <a:solidFill>
              <a:srgbClr val="5DC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40080"/>
            <a:ext cx="4114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5DC8A6"/>
                </a:solidFill>
                <a:latin typeface="Aptos"/>
              </a:rPr>
              <a:t>PROMPT PIONEERS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325880"/>
            <a:ext cx="640080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200" b="1" i="0">
                <a:solidFill>
                  <a:srgbClr val="F6F4EE"/>
                </a:solidFill>
                <a:latin typeface="Aptos Display"/>
              </a:rPr>
              <a:t>Application
Intelligence
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794760"/>
            <a:ext cx="603504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C4D7D0"/>
                </a:solidFill>
                <a:latin typeface="Aptos"/>
              </a:rPr>
              <a:t>A human-led evaluation system for environmental and climate scheme applications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49808" y="4754880"/>
            <a:ext cx="4005072" cy="0"/>
          </a:xfrm>
          <a:prstGeom prst="line">
            <a:avLst/>
          </a:prstGeom>
          <a:ln w="25400">
            <a:solidFill>
              <a:srgbClr val="5DC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9808" y="4992624"/>
            <a:ext cx="5394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F6F4EE"/>
                </a:solidFill>
                <a:latin typeface="Aptos"/>
              </a:rPr>
              <a:t>Directorate of Environment and Climate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358384"/>
            <a:ext cx="5394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93A7A1"/>
                </a:solidFill>
                <a:latin typeface="Aptos"/>
              </a:rPr>
              <a:t>POC presentation | Synthetic data only</a:t>
            </a:r>
          </a:p>
        </p:txBody>
      </p:sp>
      <p:sp>
        <p:nvSpPr>
          <p:cNvPr id="10" name="Oval 9"/>
          <p:cNvSpPr/>
          <p:nvPr/>
        </p:nvSpPr>
        <p:spPr>
          <a:xfrm>
            <a:off x="7680960" y="1828800"/>
            <a:ext cx="713232" cy="713232"/>
          </a:xfrm>
          <a:prstGeom prst="ellipse">
            <a:avLst/>
          </a:prstGeom>
          <a:solidFill>
            <a:srgbClr val="4AB1CD"/>
          </a:solidFill>
          <a:ln>
            <a:solidFill>
              <a:srgbClr val="4A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1975104"/>
            <a:ext cx="713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121C23"/>
                </a:solidFill>
                <a:latin typeface="Aptos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4928" y="2724912"/>
            <a:ext cx="122529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1" i="0">
                <a:solidFill>
                  <a:srgbClr val="F6F4EE"/>
                </a:solidFill>
                <a:latin typeface="Aptos"/>
              </a:rPr>
              <a:t>INGEST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94192" y="2185416"/>
            <a:ext cx="502920" cy="0"/>
          </a:xfrm>
          <a:prstGeom prst="line">
            <a:avLst/>
          </a:prstGeom>
          <a:ln w="25400">
            <a:solidFill>
              <a:srgbClr val="65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924544" y="1828800"/>
            <a:ext cx="713232" cy="713232"/>
          </a:xfrm>
          <a:prstGeom prst="ellipse">
            <a:avLst/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24544" y="1975104"/>
            <a:ext cx="713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121C23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68512" y="2724912"/>
            <a:ext cx="122529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1" i="0">
                <a:solidFill>
                  <a:srgbClr val="F6F4EE"/>
                </a:solidFill>
                <a:latin typeface="Aptos"/>
              </a:rPr>
              <a:t>VALIDATE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37776" y="2185416"/>
            <a:ext cx="502920" cy="0"/>
          </a:xfrm>
          <a:prstGeom prst="line">
            <a:avLst/>
          </a:prstGeom>
          <a:ln w="25400">
            <a:solidFill>
              <a:srgbClr val="6580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10168128" y="1828800"/>
            <a:ext cx="713232" cy="713232"/>
          </a:xfrm>
          <a:prstGeom prst="ellipse">
            <a:avLst/>
          </a:prstGeom>
          <a:solidFill>
            <a:srgbClr val="5DC8A6"/>
          </a:solidFill>
          <a:ln>
            <a:solidFill>
              <a:srgbClr val="5DC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68128" y="1975104"/>
            <a:ext cx="7132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 i="0">
                <a:solidFill>
                  <a:srgbClr val="121C23"/>
                </a:solidFill>
                <a:latin typeface="Aptos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2724912"/>
            <a:ext cx="1225296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1" i="0">
                <a:solidFill>
                  <a:srgbClr val="F6F4EE"/>
                </a:solidFill>
                <a:latin typeface="Aptos"/>
              </a:rPr>
              <a:t>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3840480"/>
            <a:ext cx="3749039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 i="0">
                <a:solidFill>
                  <a:srgbClr val="5DC8A6"/>
                </a:solidFill>
                <a:latin typeface="Aptos Display"/>
              </a:rPr>
              <a:t>AI advises. Authorized reviewers decide.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10528"/>
            <a:ext cx="73152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93A7A1"/>
                </a:solidFill>
                <a:latin typeface="Aptos"/>
              </a:rPr>
              <a:t>PROMPT PIONEERS | APPLICATION INTELLIGENCE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6510528"/>
            <a:ext cx="4251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1" i="0">
                <a:solidFill>
                  <a:srgbClr val="93A7A1"/>
                </a:solidFill>
                <a:latin typeface="Aptos"/>
              </a:rPr>
              <a:t>DIRECTORATE OF ENVIRONMENT AND CLIMATE CHANGE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solidFill>
              <a:srgbClr val="F6F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114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238267"/>
                </a:solidFill>
                <a:latin typeface="Aptos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6984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21C23"/>
                </a:solidFill>
                <a:latin typeface="Aptos Display"/>
              </a:rPr>
              <a:t>Make every application explainable before it reaches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93192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748488"/>
                </a:solidFill>
                <a:latin typeface="Aptos"/>
              </a:rPr>
              <a:t>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481328"/>
            <a:ext cx="10972800" cy="0"/>
          </a:xfrm>
          <a:prstGeom prst="line">
            <a:avLst/>
          </a:prstGeom>
          <a:ln w="1270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1783080"/>
            <a:ext cx="640080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F2D35"/>
                </a:solidFill>
                <a:latin typeface="Aptos"/>
              </a:rPr>
              <a:t>Today, evidence is heterogeneous, review effort is uneven, and risk signals can hide in the gaps between documents.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578608"/>
            <a:ext cx="5248656" cy="3017520"/>
          </a:xfrm>
          <a:prstGeom prst="roundRect">
            <a:avLst>
              <a:gd name="adj" fmla="val 8000"/>
            </a:avLst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889504"/>
            <a:ext cx="2286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4B24A"/>
                </a:solidFill>
                <a:latin typeface="Aptos"/>
              </a:rPr>
              <a:t>REVIEW FRICTION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3383280"/>
            <a:ext cx="109728" cy="109728"/>
          </a:xfrm>
          <a:prstGeom prst="ellipse">
            <a:avLst/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3310128"/>
            <a:ext cx="4169663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F6F4EE"/>
                </a:solidFill>
                <a:latin typeface="Aptos"/>
              </a:rPr>
              <a:t>Forms, proposals, certificates, budgets, images</a:t>
            </a:r>
          </a:p>
        </p:txBody>
      </p:sp>
      <p:sp>
        <p:nvSpPr>
          <p:cNvPr id="12" name="Oval 11"/>
          <p:cNvSpPr/>
          <p:nvPr/>
        </p:nvSpPr>
        <p:spPr>
          <a:xfrm>
            <a:off x="941832" y="3776472"/>
            <a:ext cx="109728" cy="109728"/>
          </a:xfrm>
          <a:prstGeom prst="ellipse">
            <a:avLst/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3703320"/>
            <a:ext cx="4169663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F6F4EE"/>
                </a:solidFill>
                <a:latin typeface="Aptos"/>
              </a:rPr>
              <a:t>Missing or unusable evidence</a:t>
            </a:r>
          </a:p>
        </p:txBody>
      </p:sp>
      <p:sp>
        <p:nvSpPr>
          <p:cNvPr id="14" name="Oval 13"/>
          <p:cNvSpPr/>
          <p:nvPr/>
        </p:nvSpPr>
        <p:spPr>
          <a:xfrm>
            <a:off x="941832" y="4169664"/>
            <a:ext cx="109728" cy="109728"/>
          </a:xfrm>
          <a:prstGeom prst="ellipse">
            <a:avLst/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4096512"/>
            <a:ext cx="4169663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F6F4EE"/>
                </a:solidFill>
                <a:latin typeface="Aptos"/>
              </a:rPr>
              <a:t>Conflicting claims across files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4562856"/>
            <a:ext cx="109728" cy="109728"/>
          </a:xfrm>
          <a:prstGeom prst="ellipse">
            <a:avLst/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4489704"/>
            <a:ext cx="4169663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F6F4EE"/>
                </a:solidFill>
                <a:latin typeface="Aptos"/>
              </a:rPr>
              <a:t>Manual duplicate and authenticity checks</a:t>
            </a:r>
          </a:p>
        </p:txBody>
      </p:sp>
      <p:sp>
        <p:nvSpPr>
          <p:cNvPr id="18" name="Oval 17"/>
          <p:cNvSpPr/>
          <p:nvPr/>
        </p:nvSpPr>
        <p:spPr>
          <a:xfrm>
            <a:off x="941832" y="4956048"/>
            <a:ext cx="109728" cy="109728"/>
          </a:xfrm>
          <a:prstGeom prst="ellipse">
            <a:avLst/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1288" y="4882896"/>
            <a:ext cx="4169663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F6F4EE"/>
                </a:solidFill>
                <a:latin typeface="Aptos"/>
              </a:rPr>
              <a:t>Decisions that are hard to reconstruct later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578608"/>
            <a:ext cx="5303520" cy="3017520"/>
          </a:xfrm>
          <a:prstGeom prst="roundRect">
            <a:avLst>
              <a:gd name="adj" fmla="val 8000"/>
            </a:avLst>
          </a:prstGeom>
          <a:solidFill>
            <a:srgbClr val="5DC8A6"/>
          </a:solidFill>
          <a:ln>
            <a:solidFill>
              <a:srgbClr val="5DC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889504"/>
            <a:ext cx="2286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21C23"/>
                </a:solidFill>
                <a:latin typeface="Aptos"/>
              </a:rPr>
              <a:t>THE POC RESPONSE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0" y="3383280"/>
            <a:ext cx="109728" cy="109728"/>
          </a:xfrm>
          <a:prstGeom prst="ellipse">
            <a:avLst/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3310128"/>
            <a:ext cx="4169663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21C23"/>
                </a:solidFill>
                <a:latin typeface="Aptos"/>
              </a:rPr>
              <a:t>One pipeline from submission to reviewer queue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3776472"/>
            <a:ext cx="109728" cy="109728"/>
          </a:xfrm>
          <a:prstGeom prst="ellipse">
            <a:avLst/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03136" y="3703320"/>
            <a:ext cx="4169663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21C23"/>
                </a:solidFill>
                <a:latin typeface="Aptos"/>
              </a:rPr>
              <a:t>Evidence-linked extraction and validation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4169664"/>
            <a:ext cx="109728" cy="109728"/>
          </a:xfrm>
          <a:prstGeom prst="ellipse">
            <a:avLst/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03136" y="4096512"/>
            <a:ext cx="4169663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21C23"/>
                </a:solidFill>
                <a:latin typeface="Aptos"/>
              </a:rPr>
              <a:t>Configurable weighted scoring with uncertainty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4562856"/>
            <a:ext cx="109728" cy="109728"/>
          </a:xfrm>
          <a:prstGeom prst="ellipse">
            <a:avLst/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3136" y="4489704"/>
            <a:ext cx="4169663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21C23"/>
                </a:solidFill>
                <a:latin typeface="Aptos"/>
              </a:rPr>
              <a:t>Audit events, feedback loops, and retryable stages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4956048"/>
            <a:ext cx="109728" cy="109728"/>
          </a:xfrm>
          <a:prstGeom prst="ellipse">
            <a:avLst/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03136" y="4882896"/>
            <a:ext cx="4169663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21C23"/>
                </a:solidFill>
                <a:latin typeface="Aptos"/>
              </a:rPr>
              <a:t>Human-owned final decision with rationale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510528"/>
            <a:ext cx="73152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748488"/>
                </a:solidFill>
                <a:latin typeface="Aptos"/>
              </a:rPr>
              <a:t>PROMPT PIONEERS | APPLICATION INTELLIGENCE PLATFORM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6510528"/>
            <a:ext cx="4251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1" i="0">
                <a:solidFill>
                  <a:srgbClr val="748488"/>
                </a:solidFill>
                <a:latin typeface="Aptos"/>
              </a:rPr>
              <a:t>DIRECTORATE OF ENVIRONMENT AND CLIMATE CHANGE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solidFill>
              <a:srgbClr val="F6F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114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238267"/>
                </a:solidFill>
                <a:latin typeface="Aptos"/>
              </a:rPr>
              <a:t>ONE CASE, ONE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6984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21C23"/>
                </a:solidFill>
                <a:latin typeface="Aptos Display"/>
              </a:rPr>
              <a:t>From mixed documents to a defensible reviewer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93192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748488"/>
                </a:solidFill>
                <a:latin typeface="Aptos"/>
              </a:rPr>
              <a:t>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481328"/>
            <a:ext cx="10972800" cy="0"/>
          </a:xfrm>
          <a:prstGeom prst="line">
            <a:avLst/>
          </a:prstGeom>
          <a:ln w="1270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1755648"/>
            <a:ext cx="73152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F2D35"/>
                </a:solidFill>
                <a:latin typeface="Aptos"/>
              </a:rPr>
              <a:t>The platform turns a submission bundle into structured evidence, signals, and a next-best human 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87168"/>
            <a:ext cx="19202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FD8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2959" y="2651760"/>
            <a:ext cx="310896" cy="310896"/>
          </a:xfrm>
          <a:prstGeom prst="ellipse">
            <a:avLst/>
          </a:prstGeom>
          <a:solidFill>
            <a:srgbClr val="4AB1CD"/>
          </a:solidFill>
          <a:ln>
            <a:solidFill>
              <a:srgbClr val="4A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651760"/>
            <a:ext cx="31089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633472"/>
            <a:ext cx="1188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21C23"/>
                </a:solidFill>
                <a:latin typeface="Aptos"/>
              </a:rPr>
              <a:t>Submit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" y="2935224"/>
            <a:ext cx="1188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748488"/>
                </a:solidFill>
                <a:latin typeface="Aptos"/>
              </a:rPr>
              <a:t>Files, notes, pasted text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999232"/>
            <a:ext cx="256031" cy="0"/>
          </a:xfrm>
          <a:prstGeom prst="line">
            <a:avLst/>
          </a:prstGeom>
          <a:ln w="19050">
            <a:solidFill>
              <a:srgbClr val="748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80360" y="2487168"/>
            <a:ext cx="19202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FD8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4952" y="2651760"/>
            <a:ext cx="310896" cy="310896"/>
          </a:xfrm>
          <a:prstGeom prst="ellipse">
            <a:avLst/>
          </a:prstGeom>
          <a:solidFill>
            <a:srgbClr val="5DC8A6"/>
          </a:solidFill>
          <a:ln>
            <a:solidFill>
              <a:srgbClr val="5DC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44952" y="2651760"/>
            <a:ext cx="31089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5576" y="2633472"/>
            <a:ext cx="1188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21C23"/>
                </a:solidFill>
                <a:latin typeface="Aptos"/>
              </a:rPr>
              <a:t>Extract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5576" y="2935224"/>
            <a:ext cx="1188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748488"/>
                </a:solidFill>
                <a:latin typeface="Aptos"/>
              </a:rPr>
              <a:t>Text, fields, summary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00600" y="2999232"/>
            <a:ext cx="256031" cy="0"/>
          </a:xfrm>
          <a:prstGeom prst="line">
            <a:avLst/>
          </a:prstGeom>
          <a:ln w="19050">
            <a:solidFill>
              <a:srgbClr val="748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02352" y="2487168"/>
            <a:ext cx="19202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FD8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66944" y="2651760"/>
            <a:ext cx="310896" cy="310896"/>
          </a:xfrm>
          <a:prstGeom prst="ellipse">
            <a:avLst/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651760"/>
            <a:ext cx="31089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87568" y="2633472"/>
            <a:ext cx="1188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21C23"/>
                </a:solidFill>
                <a:latin typeface="Aptos"/>
              </a:rPr>
              <a:t>Validate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87568" y="2935224"/>
            <a:ext cx="1188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748488"/>
                </a:solidFill>
                <a:latin typeface="Aptos"/>
              </a:rPr>
              <a:t>Completeness, conflicts, risk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22592" y="2999232"/>
            <a:ext cx="256032" cy="0"/>
          </a:xfrm>
          <a:prstGeom prst="line">
            <a:avLst/>
          </a:prstGeom>
          <a:ln w="19050">
            <a:solidFill>
              <a:srgbClr val="748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24344" y="2487168"/>
            <a:ext cx="19202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FD8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488936" y="2651760"/>
            <a:ext cx="310896" cy="310896"/>
          </a:xfrm>
          <a:prstGeom prst="ellipse">
            <a:avLst/>
          </a:prstGeom>
          <a:solidFill>
            <a:srgbClr val="DE6A5B"/>
          </a:solidFill>
          <a:ln>
            <a:solidFill>
              <a:srgbClr val="DE6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8936" y="2651760"/>
            <a:ext cx="31089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9560" y="2633472"/>
            <a:ext cx="1188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21C23"/>
                </a:solidFill>
                <a:latin typeface="Aptos"/>
              </a:rPr>
              <a:t>Score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2935224"/>
            <a:ext cx="1188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748488"/>
                </a:solidFill>
                <a:latin typeface="Aptos"/>
              </a:rPr>
              <a:t>Weighted, explainable aid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44584" y="2999232"/>
            <a:ext cx="256032" cy="0"/>
          </a:xfrm>
          <a:prstGeom prst="line">
            <a:avLst/>
          </a:prstGeom>
          <a:ln w="19050">
            <a:solidFill>
              <a:srgbClr val="7484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46336" y="2487168"/>
            <a:ext cx="19202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FD8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710928" y="2651760"/>
            <a:ext cx="310896" cy="310896"/>
          </a:xfrm>
          <a:prstGeom prst="ellipse">
            <a:avLst/>
          </a:prstGeom>
          <a:solidFill>
            <a:srgbClr val="238267"/>
          </a:solidFill>
          <a:ln>
            <a:solidFill>
              <a:srgbClr val="2382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10928" y="2651760"/>
            <a:ext cx="310896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31552" y="2633472"/>
            <a:ext cx="11887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21C23"/>
                </a:solidFill>
                <a:latin typeface="Aptos"/>
              </a:rPr>
              <a:t>Review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31552" y="2935224"/>
            <a:ext cx="1188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748488"/>
                </a:solidFill>
                <a:latin typeface="Aptos"/>
              </a:rPr>
              <a:t>Route, override, decide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160520"/>
            <a:ext cx="1080820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FD8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76" y="4434840"/>
            <a:ext cx="12344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238267"/>
                </a:solidFill>
                <a:latin typeface="Aptos"/>
              </a:rPr>
              <a:t>CASE OUTPUT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30552" y="4407408"/>
            <a:ext cx="8778240" cy="274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 algn="l"/>
            <a:r>
              <a:rPr sz="1500" b="1">
                <a:solidFill>
                  <a:srgbClr val="121C23"/>
                </a:solidFill>
                <a:latin typeface="Aptos"/>
              </a:rPr>
              <a:t>Route: </a:t>
            </a:r>
            <a:r>
              <a:rPr sz="1500" b="1">
                <a:solidFill>
                  <a:srgbClr val="DE6A5B"/>
                </a:solidFill>
                <a:latin typeface="Aptos"/>
              </a:rPr>
              <a:t>manual verification</a:t>
            </a:r>
            <a:r>
              <a:rPr sz="1500" b="1">
                <a:solidFill>
                  <a:srgbClr val="121C23"/>
                </a:solidFill>
                <a:latin typeface="Aptos"/>
              </a:rPr>
              <a:t>  |  Score: </a:t>
            </a:r>
            <a:r>
              <a:rPr sz="1500" b="1">
                <a:solidFill>
                  <a:srgbClr val="121C23"/>
                </a:solidFill>
                <a:latin typeface="Aptos"/>
              </a:rPr>
              <a:t>72 / 100</a:t>
            </a:r>
            <a:r>
              <a:rPr sz="1500" b="1">
                <a:solidFill>
                  <a:srgbClr val="121C23"/>
                </a:solidFill>
                <a:latin typeface="Aptos"/>
              </a:rPr>
              <a:t>  |  Flags: </a:t>
            </a:r>
            <a:r>
              <a:rPr sz="1500" b="0">
                <a:solidFill>
                  <a:srgbClr val="DE6A5B"/>
                </a:solidFill>
                <a:latin typeface="Aptos"/>
              </a:rPr>
              <a:t>unusable certificate + duplicate similarity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" y="4800600"/>
            <a:ext cx="98755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1">
                <a:solidFill>
                  <a:srgbClr val="748488"/>
                </a:solidFill>
                <a:latin typeface="Aptos"/>
              </a:rPr>
              <a:t>Every output remains advisory until an authorized reviewer records a decision and rationale.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510528"/>
            <a:ext cx="73152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748488"/>
                </a:solidFill>
                <a:latin typeface="Aptos"/>
              </a:rPr>
              <a:t>PROMPT PIONEERS | APPLICATION INTELLIGENCE PLATFORM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6510528"/>
            <a:ext cx="4251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1" i="0">
                <a:solidFill>
                  <a:srgbClr val="748488"/>
                </a:solidFill>
                <a:latin typeface="Aptos"/>
              </a:rPr>
              <a:t>DIRECTORATE OF ENVIRONMENT AND CLIMATE CHANGE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114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5DC8A6"/>
                </a:solidFill>
                <a:latin typeface="Aptos"/>
              </a:rPr>
              <a:t>ON-PREMISE-READY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6984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F6F4EE"/>
                </a:solidFill>
                <a:latin typeface="Aptos Display"/>
              </a:rPr>
              <a:t>Architecture and technology stack keep evidence, models, and decisions governable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93192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B2C3BE"/>
                </a:solidFill>
                <a:latin typeface="Aptos"/>
              </a:rPr>
              <a:t>04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481328"/>
            <a:ext cx="10972800" cy="0"/>
          </a:xfrm>
          <a:prstGeom prst="line">
            <a:avLst/>
          </a:prstGeom>
          <a:ln w="12700">
            <a:solidFill>
              <a:srgbClr val="475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49808" y="1764792"/>
            <a:ext cx="1920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5DC8A6"/>
                </a:solidFill>
                <a:latin typeface="Aptos"/>
              </a:rPr>
              <a:t>ARCHITECTURE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148840"/>
            <a:ext cx="1664208" cy="1234440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2148840"/>
            <a:ext cx="1664208" cy="91440"/>
          </a:xfrm>
          <a:prstGeom prst="roundRect">
            <a:avLst>
              <a:gd name="adj" fmla="val 8000"/>
            </a:avLst>
          </a:prstGeom>
          <a:solidFill>
            <a:srgbClr val="4AB1CD"/>
          </a:solidFill>
          <a:ln>
            <a:solidFill>
              <a:srgbClr val="4A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404872"/>
            <a:ext cx="1371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F6F4EE"/>
                </a:solidFill>
                <a:latin typeface="Aptos Display"/>
              </a:rPr>
              <a:t>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79776"/>
            <a:ext cx="1371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ED3CD"/>
                </a:solidFill>
                <a:latin typeface="Aptos"/>
              </a:rPr>
              <a:t>Streamlit
Applicant + admin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2148840"/>
            <a:ext cx="1664208" cy="1234440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43200" y="2148840"/>
            <a:ext cx="1664208" cy="91440"/>
          </a:xfrm>
          <a:prstGeom prst="roundRect">
            <a:avLst>
              <a:gd name="adj" fmla="val 8000"/>
            </a:avLst>
          </a:prstGeom>
          <a:solidFill>
            <a:srgbClr val="5DC8A6"/>
          </a:solidFill>
          <a:ln>
            <a:solidFill>
              <a:srgbClr val="5DC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9504" y="2404872"/>
            <a:ext cx="1371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F6F4EE"/>
                </a:solidFill>
                <a:latin typeface="Aptos Display"/>
              </a:rPr>
              <a:t>API 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9504" y="2779776"/>
            <a:ext cx="1371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ED3CD"/>
                </a:solidFill>
                <a:latin typeface="Aptos"/>
              </a:rPr>
              <a:t>FastAPI
JWT + OpenAPI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6592" y="2148840"/>
            <a:ext cx="1664208" cy="1234440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36592" y="2148840"/>
            <a:ext cx="1664208" cy="91440"/>
          </a:xfrm>
          <a:prstGeom prst="roundRect">
            <a:avLst>
              <a:gd name="adj" fmla="val 8000"/>
            </a:avLst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82896" y="2404872"/>
            <a:ext cx="1371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F6F4EE"/>
                </a:solidFill>
                <a:latin typeface="Aptos Display"/>
              </a:rPr>
              <a:t>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2896" y="2779776"/>
            <a:ext cx="1371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ED3CD"/>
                </a:solidFill>
                <a:latin typeface="Aptos"/>
              </a:rPr>
              <a:t>Ingestion / OCR
Agents +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9984" y="2148840"/>
            <a:ext cx="1664208" cy="1234440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29984" y="2148840"/>
            <a:ext cx="1664208" cy="91440"/>
          </a:xfrm>
          <a:prstGeom prst="roundRect">
            <a:avLst>
              <a:gd name="adj" fmla="val 8000"/>
            </a:avLst>
          </a:prstGeom>
          <a:solidFill>
            <a:srgbClr val="DE6A5B"/>
          </a:solidFill>
          <a:ln>
            <a:solidFill>
              <a:srgbClr val="DE6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76288" y="2404872"/>
            <a:ext cx="13716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F6F4EE"/>
                </a:solidFill>
                <a:latin typeface="Aptos Display"/>
              </a:rPr>
              <a:t>Evidence stores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779776"/>
            <a:ext cx="13716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ED3CD"/>
                </a:solidFill>
                <a:latin typeface="Aptos"/>
              </a:rPr>
              <a:t>SQLite / Postgres
Chroma + raw files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14016" y="2761488"/>
            <a:ext cx="320040" cy="0"/>
          </a:xfrm>
          <a:prstGeom prst="line">
            <a:avLst/>
          </a:prstGeom>
          <a:ln w="25400">
            <a:solidFill>
              <a:srgbClr val="5DC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407408" y="2761488"/>
            <a:ext cx="320040" cy="0"/>
          </a:xfrm>
          <a:prstGeom prst="line">
            <a:avLst/>
          </a:prstGeom>
          <a:ln w="25400">
            <a:solidFill>
              <a:srgbClr val="5DC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400800" y="2761488"/>
            <a:ext cx="320040" cy="0"/>
          </a:xfrm>
          <a:prstGeom prst="line">
            <a:avLst/>
          </a:prstGeom>
          <a:ln w="25400">
            <a:solidFill>
              <a:srgbClr val="5DC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723376" y="2148840"/>
            <a:ext cx="2596896" cy="1234440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42832" y="2404872"/>
            <a:ext cx="2103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F6F4EE"/>
                </a:solidFill>
                <a:latin typeface="Aptos Display"/>
              </a:rPr>
              <a:t>Controlled adapters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42832" y="2779776"/>
            <a:ext cx="20574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BED3CD"/>
                </a:solidFill>
                <a:latin typeface="Aptos"/>
              </a:rPr>
              <a:t>Ollama local default
Bedrock / Anthropic / OpenAI
Optional Exa name-only check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94192" y="2761488"/>
            <a:ext cx="274320" cy="0"/>
          </a:xfrm>
          <a:prstGeom prst="line">
            <a:avLst/>
          </a:prstGeom>
          <a:ln w="25400">
            <a:solidFill>
              <a:srgbClr val="DE6A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49808" y="3822191"/>
            <a:ext cx="1920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4B24A"/>
                </a:solidFill>
                <a:latin typeface="Aptos"/>
              </a:rPr>
              <a:t>TECHNOLOGY STACK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187952"/>
            <a:ext cx="2487168" cy="438912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306824"/>
            <a:ext cx="621792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4AB1CD"/>
                </a:solidFill>
                <a:latin typeface="Aptos"/>
              </a:rPr>
              <a:t>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7048" y="4288536"/>
            <a:ext cx="15727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6F4EE"/>
                </a:solidFill>
                <a:latin typeface="Aptos"/>
              </a:rPr>
              <a:t>Streamlit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511296" y="4187952"/>
            <a:ext cx="2487168" cy="438912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39312" y="4306824"/>
            <a:ext cx="621792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5DC8A6"/>
                </a:solidFill>
                <a:latin typeface="Aptos"/>
              </a:rPr>
              <a:t>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88536" y="4288536"/>
            <a:ext cx="15727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6F4EE"/>
                </a:solidFill>
                <a:latin typeface="Aptos"/>
              </a:rPr>
              <a:t>FastAPI + Uvicorn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72784" y="4187952"/>
            <a:ext cx="2487168" cy="438912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306824"/>
            <a:ext cx="621792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4B24A"/>
                </a:solidFill>
                <a:latin typeface="Aptos"/>
              </a:rPr>
              <a:t>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50024" y="4288536"/>
            <a:ext cx="15727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6F4EE"/>
                </a:solidFill>
                <a:latin typeface="Aptos"/>
              </a:rPr>
              <a:t>Strands Agents + Pydantic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34272" y="4187952"/>
            <a:ext cx="2487168" cy="438912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62288" y="4306824"/>
            <a:ext cx="621792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DE6A5B"/>
                </a:solidFill>
                <a:latin typeface="Aptos"/>
              </a:rPr>
              <a:t>Documents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11512" y="4288536"/>
            <a:ext cx="15727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6F4EE"/>
                </a:solidFill>
                <a:latin typeface="Aptos"/>
              </a:rPr>
              <a:t>PyMuPDF / python-docx / OCR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8" y="4828032"/>
            <a:ext cx="2487168" cy="438912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7824" y="4946904"/>
            <a:ext cx="621792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4AB1CD"/>
                </a:solidFill>
                <a:latin typeface="Aptos"/>
              </a:rPr>
              <a:t>Search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7048" y="4928616"/>
            <a:ext cx="15727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6F4EE"/>
                </a:solidFill>
                <a:latin typeface="Aptos"/>
              </a:rPr>
              <a:t>ChromaDB + embeddings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11296" y="4828032"/>
            <a:ext cx="2487168" cy="438912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39312" y="4946904"/>
            <a:ext cx="621792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238267"/>
                </a:solidFill>
                <a:latin typeface="Aptos"/>
              </a:rPr>
              <a:t>Data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88536" y="4928616"/>
            <a:ext cx="15727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6F4EE"/>
                </a:solidFill>
                <a:latin typeface="Aptos"/>
              </a:rPr>
              <a:t>SQLite / PostgreSQL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72784" y="4828032"/>
            <a:ext cx="2487168" cy="438912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4946904"/>
            <a:ext cx="621792" cy="155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F4B24A"/>
                </a:solidFill>
                <a:latin typeface="Aptos"/>
              </a:rPr>
              <a:t>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50024" y="4928616"/>
            <a:ext cx="157276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6F4EE"/>
                </a:solidFill>
                <a:latin typeface="Aptos"/>
              </a:rPr>
              <a:t>Pytest + Ruff + OpenTelemetry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8" y="5989320"/>
            <a:ext cx="106984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1">
                <a:solidFill>
                  <a:srgbClr val="C0D4CE"/>
                </a:solidFill>
                <a:latin typeface="Aptos"/>
              </a:rPr>
              <a:t>Restricted evidence remains local by default; provider and database choices are configuration, not business logic.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6510528"/>
            <a:ext cx="73152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93A7A1"/>
                </a:solidFill>
                <a:latin typeface="Aptos"/>
              </a:rPr>
              <a:t>PROMPT PIONEERS | APPLICATION INTELLIGENCE PLATFORM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6510528"/>
            <a:ext cx="4251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1" i="0">
                <a:solidFill>
                  <a:srgbClr val="93A7A1"/>
                </a:solidFill>
                <a:latin typeface="Aptos"/>
              </a:rPr>
              <a:t>DIRECTORATE OF ENVIRONMENT AND CLIMATE CHANGE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solidFill>
              <a:srgbClr val="F6F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114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238267"/>
                </a:solidFill>
                <a:latin typeface="Aptos"/>
              </a:rPr>
              <a:t>BOUNDED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6984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21C23"/>
                </a:solidFill>
                <a:latin typeface="Aptos Display"/>
              </a:rPr>
              <a:t>Agents are configured capabilities, not autonomous decision-makers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93192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748488"/>
                </a:solidFill>
                <a:latin typeface="Aptos"/>
              </a:rPr>
              <a:t>05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481328"/>
            <a:ext cx="10972800" cy="0"/>
          </a:xfrm>
          <a:prstGeom prst="line">
            <a:avLst/>
          </a:prstGeom>
          <a:ln w="1270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1792" y="1755648"/>
            <a:ext cx="777240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F2D35"/>
                </a:solidFill>
                <a:latin typeface="Aptos"/>
              </a:rPr>
              <a:t>Each stage has a narrow purpose, declared tools, structured output, and a durable event trail.</a:t>
            </a:r>
          </a:p>
        </p:txBody>
      </p:sp>
      <p:sp>
        <p:nvSpPr>
          <p:cNvPr id="8" name="Oval 7"/>
          <p:cNvSpPr/>
          <p:nvPr/>
        </p:nvSpPr>
        <p:spPr>
          <a:xfrm>
            <a:off x="1197864" y="2487168"/>
            <a:ext cx="713232" cy="713232"/>
          </a:xfrm>
          <a:prstGeom prst="ellipse">
            <a:avLst/>
          </a:prstGeom>
          <a:solidFill>
            <a:srgbClr val="4AB1CD"/>
          </a:solidFill>
          <a:ln>
            <a:solidFill>
              <a:srgbClr val="4A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2670048"/>
            <a:ext cx="7132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3456432"/>
            <a:ext cx="1691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21C23"/>
                </a:solidFill>
                <a:latin typeface="Aptos"/>
              </a:rPr>
              <a:t>Embedding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840480"/>
            <a:ext cx="16916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748488"/>
                </a:solidFill>
                <a:latin typeface="Aptos"/>
              </a:rPr>
              <a:t>Index bundles
Find duplicates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04872" y="2843784"/>
            <a:ext cx="429767" cy="0"/>
          </a:xfrm>
          <a:prstGeom prst="line">
            <a:avLst/>
          </a:prstGeom>
          <a:ln w="1905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438144" y="2487168"/>
            <a:ext cx="713232" cy="713232"/>
          </a:xfrm>
          <a:prstGeom prst="ellipse">
            <a:avLst/>
          </a:prstGeom>
          <a:solidFill>
            <a:srgbClr val="5DC8A6"/>
          </a:solidFill>
          <a:ln>
            <a:solidFill>
              <a:srgbClr val="5DC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8144" y="2670048"/>
            <a:ext cx="7132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3456432"/>
            <a:ext cx="1691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21C23"/>
                </a:solidFill>
                <a:latin typeface="Aptos"/>
              </a:rPr>
              <a:t>Extraction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3512" y="3840480"/>
            <a:ext cx="16916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748488"/>
                </a:solidFill>
                <a:latin typeface="Aptos"/>
              </a:rPr>
              <a:t>Fields +
summary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45152" y="2843784"/>
            <a:ext cx="429768" cy="0"/>
          </a:xfrm>
          <a:prstGeom prst="line">
            <a:avLst/>
          </a:prstGeom>
          <a:ln w="1905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678424" y="2487168"/>
            <a:ext cx="713232" cy="713232"/>
          </a:xfrm>
          <a:prstGeom prst="ellipse">
            <a:avLst/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78424" y="2670048"/>
            <a:ext cx="7132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456432"/>
            <a:ext cx="1691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21C23"/>
                </a:solidFill>
                <a:latin typeface="Aptos"/>
              </a:rPr>
              <a:t>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840480"/>
            <a:ext cx="16916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748488"/>
                </a:solidFill>
                <a:latin typeface="Aptos"/>
              </a:rPr>
              <a:t>Completeness
+ risk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85432" y="2843784"/>
            <a:ext cx="429768" cy="0"/>
          </a:xfrm>
          <a:prstGeom prst="line">
            <a:avLst/>
          </a:prstGeom>
          <a:ln w="1905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7918704" y="2487168"/>
            <a:ext cx="713232" cy="713232"/>
          </a:xfrm>
          <a:prstGeom prst="ellipse">
            <a:avLst/>
          </a:prstGeom>
          <a:solidFill>
            <a:srgbClr val="DE6A5B"/>
          </a:solidFill>
          <a:ln>
            <a:solidFill>
              <a:srgbClr val="DE6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18704" y="2670048"/>
            <a:ext cx="7132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4072" y="3456432"/>
            <a:ext cx="1691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21C23"/>
                </a:solidFill>
                <a:latin typeface="Aptos"/>
              </a:rPr>
              <a:t>Scoring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840480"/>
            <a:ext cx="16916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748488"/>
                </a:solidFill>
                <a:latin typeface="Aptos"/>
              </a:rPr>
              <a:t>Weighted
explanation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25712" y="2843784"/>
            <a:ext cx="429768" cy="0"/>
          </a:xfrm>
          <a:prstGeom prst="line">
            <a:avLst/>
          </a:prstGeom>
          <a:ln w="1905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0158984" y="2487168"/>
            <a:ext cx="713232" cy="713232"/>
          </a:xfrm>
          <a:prstGeom prst="ellipse">
            <a:avLst/>
          </a:prstGeom>
          <a:solidFill>
            <a:srgbClr val="238267"/>
          </a:solidFill>
          <a:ln>
            <a:solidFill>
              <a:srgbClr val="2382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58984" y="2670048"/>
            <a:ext cx="7132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4352" y="3456432"/>
            <a:ext cx="16916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400" b="1" i="0">
                <a:solidFill>
                  <a:srgbClr val="121C23"/>
                </a:solidFill>
                <a:latin typeface="Aptos"/>
              </a:rPr>
              <a:t>Workflow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74352" y="3840480"/>
            <a:ext cx="16916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 i="0">
                <a:solidFill>
                  <a:srgbClr val="748488"/>
                </a:solidFill>
                <a:latin typeface="Aptos"/>
              </a:rPr>
              <a:t>Route +
audit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4828032"/>
            <a:ext cx="10771632" cy="713232"/>
          </a:xfrm>
          <a:prstGeom prst="roundRect">
            <a:avLst>
              <a:gd name="adj" fmla="val 8000"/>
            </a:avLst>
          </a:prstGeom>
          <a:solidFill>
            <a:srgbClr val="E7F3EF"/>
          </a:solidFill>
          <a:ln>
            <a:solidFill>
              <a:srgbClr val="E7F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5056632"/>
            <a:ext cx="2148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38267"/>
                </a:solidFill>
                <a:latin typeface="Aptos"/>
              </a:rPr>
              <a:t>Structured Pydantic results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63240" y="5056632"/>
            <a:ext cx="6583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1F2D35"/>
                </a:solidFill>
                <a:latin typeface="Aptos"/>
              </a:rPr>
              <a:t>Extraction fields | validation flags | scoring explanation | review notes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" y="5358384"/>
            <a:ext cx="9601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 i="1">
                <a:solidFill>
                  <a:srgbClr val="748488"/>
                </a:solidFill>
                <a:latin typeface="Aptos"/>
              </a:rPr>
              <a:t>Skills provide policy context; tools perform bounded domain operations; API authorization remains the control plane.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510528"/>
            <a:ext cx="73152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748488"/>
                </a:solidFill>
                <a:latin typeface="Aptos"/>
              </a:rPr>
              <a:t>PROMPT PIONEERS | APPLICATION INTELLIGENCE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6510528"/>
            <a:ext cx="4251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1" i="0">
                <a:solidFill>
                  <a:srgbClr val="748488"/>
                </a:solidFill>
                <a:latin typeface="Aptos"/>
              </a:rPr>
              <a:t>DIRECTORATE OF ENVIRONMENT AND CLIMATE CHANGE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solidFill>
              <a:srgbClr val="F6F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114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238267"/>
                </a:solidFill>
                <a:latin typeface="Aptos"/>
              </a:rPr>
              <a:t>EVIDENCE BEFORE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6984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21C23"/>
                </a:solidFill>
                <a:latin typeface="Aptos Display"/>
              </a:rPr>
              <a:t>Validation and scoring expose uncertainty instead of hiding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93192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748488"/>
                </a:solidFill>
                <a:latin typeface="Aptos"/>
              </a:rPr>
              <a:t>06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481328"/>
            <a:ext cx="10972800" cy="0"/>
          </a:xfrm>
          <a:prstGeom prst="line">
            <a:avLst/>
          </a:prstGeom>
          <a:ln w="1270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58368" y="1828800"/>
            <a:ext cx="5266944" cy="4096512"/>
          </a:xfrm>
          <a:prstGeom prst="roundRect">
            <a:avLst>
              <a:gd name="adj" fmla="val 8000"/>
            </a:avLst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76272"/>
            <a:ext cx="237744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F4B24A"/>
                </a:solidFill>
                <a:latin typeface="Aptos"/>
              </a:rPr>
              <a:t>VALIDATION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670048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C2D3CD"/>
                </a:solidFill>
                <a:latin typeface="Aptos"/>
              </a:rPr>
              <a:t>Required documents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2" y="2670048"/>
            <a:ext cx="1783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 i="0">
                <a:solidFill>
                  <a:srgbClr val="5DC8A6"/>
                </a:solidFill>
                <a:latin typeface="Aptos"/>
              </a:rPr>
              <a:t>8 / 10 usable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87552" y="2999232"/>
            <a:ext cx="4480560" cy="0"/>
          </a:xfrm>
          <a:prstGeom prst="line">
            <a:avLst/>
          </a:prstGeom>
          <a:ln w="8890">
            <a:solidFill>
              <a:srgbClr val="4053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87552" y="3328415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C2D3CD"/>
                </a:solidFill>
                <a:latin typeface="Aptos"/>
              </a:rPr>
              <a:t>Material conflicts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3328415"/>
            <a:ext cx="1783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 i="0">
                <a:solidFill>
                  <a:srgbClr val="DE6A5B"/>
                </a:solidFill>
                <a:latin typeface="Aptos"/>
              </a:rPr>
              <a:t>2 found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7552" y="3657599"/>
            <a:ext cx="4480560" cy="0"/>
          </a:xfrm>
          <a:prstGeom prst="line">
            <a:avLst/>
          </a:prstGeom>
          <a:ln w="8890">
            <a:solidFill>
              <a:srgbClr val="4053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87552" y="3986783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C2D3CD"/>
                </a:solidFill>
                <a:latin typeface="Aptos"/>
              </a:rPr>
              <a:t>Authenticity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2" y="3986783"/>
            <a:ext cx="1783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 i="0">
                <a:solidFill>
                  <a:srgbClr val="DE6A5B"/>
                </a:solidFill>
                <a:latin typeface="Aptos"/>
              </a:rPr>
              <a:t>High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7552" y="4315968"/>
            <a:ext cx="4480560" cy="0"/>
          </a:xfrm>
          <a:prstGeom prst="line">
            <a:avLst/>
          </a:prstGeom>
          <a:ln w="8890">
            <a:solidFill>
              <a:srgbClr val="4053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87552" y="4645152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C2D3CD"/>
                </a:solidFill>
                <a:latin typeface="Aptos"/>
              </a:rPr>
              <a:t>Human 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4645152"/>
            <a:ext cx="1783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300" b="1" i="0">
                <a:solidFill>
                  <a:srgbClr val="F4B24A"/>
                </a:solidFill>
                <a:latin typeface="Aptos"/>
              </a:rPr>
              <a:t>Required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87552" y="4974336"/>
            <a:ext cx="4480560" cy="0"/>
          </a:xfrm>
          <a:prstGeom prst="line">
            <a:avLst/>
          </a:prstGeom>
          <a:ln w="8890">
            <a:solidFill>
              <a:srgbClr val="40535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272784" y="1828800"/>
            <a:ext cx="5266944" cy="4096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FD8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2176272"/>
            <a:ext cx="237744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DE6A5B"/>
                </a:solidFill>
                <a:latin typeface="Aptos"/>
              </a:rPr>
              <a:t>ADVISORY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01968" y="2560320"/>
            <a:ext cx="128016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200" b="1" i="0">
                <a:solidFill>
                  <a:srgbClr val="121C23"/>
                </a:solidFill>
                <a:latin typeface="Aptos Display"/>
              </a:rPr>
              <a:t>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2889504"/>
            <a:ext cx="1097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 i="0">
                <a:solidFill>
                  <a:srgbClr val="748488"/>
                </a:solidFill>
                <a:latin typeface="Aptos"/>
              </a:rPr>
              <a:t>/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01968" y="3675887"/>
            <a:ext cx="138988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F2D35"/>
                </a:solidFill>
                <a:latin typeface="Aptos"/>
              </a:rPr>
              <a:t>Impact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74152" y="3694175"/>
            <a:ext cx="2057400" cy="137160"/>
          </a:xfrm>
          <a:prstGeom prst="roundRect">
            <a:avLst>
              <a:gd name="adj" fmla="val 8000"/>
            </a:avLst>
          </a:prstGeom>
          <a:solidFill>
            <a:srgbClr val="E7EBE7"/>
          </a:solidFill>
          <a:ln>
            <a:solidFill>
              <a:srgbClr val="E7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74152" y="3694175"/>
            <a:ext cx="1645920" cy="137160"/>
          </a:xfrm>
          <a:prstGeom prst="roundRect">
            <a:avLst>
              <a:gd name="adj" fmla="val 8000"/>
            </a:avLst>
          </a:prstGeom>
          <a:solidFill>
            <a:srgbClr val="5DC8A6"/>
          </a:solidFill>
          <a:ln>
            <a:solidFill>
              <a:srgbClr val="5DC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0" y="3657599"/>
            <a:ext cx="74980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 i="0">
                <a:solidFill>
                  <a:srgbClr val="121C23"/>
                </a:solidFill>
                <a:latin typeface="Aptos"/>
              </a:rPr>
              <a:t>28 / 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4114800"/>
            <a:ext cx="138988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F2D35"/>
                </a:solidFill>
                <a:latin typeface="Aptos"/>
              </a:rPr>
              <a:t>Feasibility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74152" y="4133087"/>
            <a:ext cx="2057400" cy="137160"/>
          </a:xfrm>
          <a:prstGeom prst="roundRect">
            <a:avLst>
              <a:gd name="adj" fmla="val 8000"/>
            </a:avLst>
          </a:prstGeom>
          <a:solidFill>
            <a:srgbClr val="E7EBE7"/>
          </a:solidFill>
          <a:ln>
            <a:solidFill>
              <a:srgbClr val="E7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74152" y="4133087"/>
            <a:ext cx="1316736" cy="137160"/>
          </a:xfrm>
          <a:prstGeom prst="roundRect">
            <a:avLst>
              <a:gd name="adj" fmla="val 8000"/>
            </a:avLst>
          </a:prstGeom>
          <a:solidFill>
            <a:srgbClr val="4AB1CD"/>
          </a:solidFill>
          <a:ln>
            <a:solidFill>
              <a:srgbClr val="4A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32720" y="4096512"/>
            <a:ext cx="74980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 i="0">
                <a:solidFill>
                  <a:srgbClr val="121C23"/>
                </a:solidFill>
                <a:latin typeface="Aptos"/>
              </a:rPr>
              <a:t>22 / 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4553712"/>
            <a:ext cx="138988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F2D35"/>
                </a:solidFill>
                <a:latin typeface="Aptos"/>
              </a:rPr>
              <a:t>Value for money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74152" y="4571999"/>
            <a:ext cx="2057400" cy="137160"/>
          </a:xfrm>
          <a:prstGeom prst="roundRect">
            <a:avLst>
              <a:gd name="adj" fmla="val 8000"/>
            </a:avLst>
          </a:prstGeom>
          <a:solidFill>
            <a:srgbClr val="E7EBE7"/>
          </a:solidFill>
          <a:ln>
            <a:solidFill>
              <a:srgbClr val="E7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74152" y="4571999"/>
            <a:ext cx="1440180" cy="137160"/>
          </a:xfrm>
          <a:prstGeom prst="roundRect">
            <a:avLst>
              <a:gd name="adj" fmla="val 8000"/>
            </a:avLst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32720" y="4535424"/>
            <a:ext cx="74980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 i="0">
                <a:solidFill>
                  <a:srgbClr val="121C23"/>
                </a:solidFill>
                <a:latin typeface="Aptos"/>
              </a:rPr>
              <a:t>14 / 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992623"/>
            <a:ext cx="138988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1F2D35"/>
                </a:solidFill>
                <a:latin typeface="Aptos"/>
              </a:rPr>
              <a:t>Readiness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74152" y="5010911"/>
            <a:ext cx="2057400" cy="137160"/>
          </a:xfrm>
          <a:prstGeom prst="roundRect">
            <a:avLst>
              <a:gd name="adj" fmla="val 8000"/>
            </a:avLst>
          </a:prstGeom>
          <a:solidFill>
            <a:srgbClr val="E7EBE7"/>
          </a:solidFill>
          <a:ln>
            <a:solidFill>
              <a:srgbClr val="E7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074152" y="5010911"/>
            <a:ext cx="1090422" cy="137160"/>
          </a:xfrm>
          <a:prstGeom prst="roundRect">
            <a:avLst>
              <a:gd name="adj" fmla="val 8000"/>
            </a:avLst>
          </a:prstGeom>
          <a:solidFill>
            <a:srgbClr val="DE6A5B"/>
          </a:solidFill>
          <a:ln>
            <a:solidFill>
              <a:srgbClr val="DE6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0" y="4974336"/>
            <a:ext cx="749808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000" b="1" i="0">
                <a:solidFill>
                  <a:srgbClr val="121C23"/>
                </a:solidFill>
                <a:latin typeface="Aptos"/>
              </a:rPr>
              <a:t>8 / 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01968" y="5468112"/>
            <a:ext cx="4297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1">
                <a:solidFill>
                  <a:srgbClr val="748488"/>
                </a:solidFill>
                <a:latin typeface="Aptos"/>
              </a:rPr>
              <a:t>Score is not a final decision. Flags and source evidence travel with it.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6510528"/>
            <a:ext cx="73152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748488"/>
                </a:solidFill>
                <a:latin typeface="Aptos"/>
              </a:rPr>
              <a:t>PROMPT PIONEERS | APPLICATION INTELLIGENCE PLATFORM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6510528"/>
            <a:ext cx="4251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1" i="0">
                <a:solidFill>
                  <a:srgbClr val="748488"/>
                </a:solidFill>
                <a:latin typeface="Aptos"/>
              </a:rPr>
              <a:t>DIRECTORATE OF ENVIRONMENT AND CLIMATE 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114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5DC8A6"/>
                </a:solidFill>
                <a:latin typeface="Aptos"/>
              </a:rPr>
              <a:t>HUMAN CONTROL IS A PRODUCT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6984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F6F4EE"/>
                </a:solidFill>
                <a:latin typeface="Aptos Display"/>
              </a:rPr>
              <a:t>The workflow makes intervention, override, and accountability explicit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93192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B2C3BE"/>
                </a:solidFill>
                <a:latin typeface="Aptos"/>
              </a:rPr>
              <a:t>07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481328"/>
            <a:ext cx="10972800" cy="0"/>
          </a:xfrm>
          <a:prstGeom prst="line">
            <a:avLst/>
          </a:prstGeom>
          <a:ln w="12700">
            <a:solidFill>
              <a:srgbClr val="475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8952" y="2157984"/>
            <a:ext cx="512064" cy="512064"/>
          </a:xfrm>
          <a:prstGeom prst="ellipse">
            <a:avLst/>
          </a:prstGeom>
          <a:solidFill>
            <a:srgbClr val="4AB1CD"/>
          </a:solidFill>
          <a:ln>
            <a:solidFill>
              <a:srgbClr val="4A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286000"/>
            <a:ext cx="51206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21C23"/>
                </a:solidFill>
                <a:latin typeface="Aptos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907792"/>
            <a:ext cx="2240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F6F4EE"/>
                </a:solidFill>
                <a:latin typeface="Aptos Display"/>
              </a:rPr>
              <a:t>Assign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310128"/>
            <a:ext cx="21488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B7CDC6"/>
                </a:solidFill>
                <a:latin typeface="Aptos"/>
              </a:rPr>
              <a:t>An admin claims the case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13432" y="2414016"/>
            <a:ext cx="896112" cy="0"/>
          </a:xfrm>
          <a:prstGeom prst="line">
            <a:avLst/>
          </a:prstGeom>
          <a:ln w="25400">
            <a:solidFill>
              <a:srgbClr val="5B7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547872" y="2157984"/>
            <a:ext cx="512064" cy="512064"/>
          </a:xfrm>
          <a:prstGeom prst="ellipse">
            <a:avLst/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47872" y="2286000"/>
            <a:ext cx="51206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21C23"/>
                </a:solidFill>
                <a:latin typeface="Aptos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2907792"/>
            <a:ext cx="2240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F6F4EE"/>
                </a:solidFill>
                <a:latin typeface="Aptos Display"/>
              </a:rPr>
              <a:t>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3310128"/>
            <a:ext cx="21488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B7CDC6"/>
                </a:solidFill>
                <a:latin typeface="Aptos"/>
              </a:rPr>
              <a:t>Assigned admin validates evidence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02352" y="2414016"/>
            <a:ext cx="896112" cy="0"/>
          </a:xfrm>
          <a:prstGeom prst="line">
            <a:avLst/>
          </a:prstGeom>
          <a:ln w="25400">
            <a:solidFill>
              <a:srgbClr val="5B7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336792" y="2157984"/>
            <a:ext cx="512064" cy="512064"/>
          </a:xfrm>
          <a:prstGeom prst="ellipse">
            <a:avLst/>
          </a:prstGeom>
          <a:solidFill>
            <a:srgbClr val="5DC8A6"/>
          </a:solidFill>
          <a:ln>
            <a:solidFill>
              <a:srgbClr val="5DC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2286000"/>
            <a:ext cx="51206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21C23"/>
                </a:solidFill>
                <a:latin typeface="Aptos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2907792"/>
            <a:ext cx="2240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F6F4EE"/>
                </a:solidFill>
                <a:latin typeface="Aptos Display"/>
              </a:rPr>
              <a:t>Approve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3310128"/>
            <a:ext cx="21488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B7CDC6"/>
                </a:solidFill>
                <a:latin typeface="Aptos"/>
              </a:rPr>
              <a:t>Two distinct admins approve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1" y="2414016"/>
            <a:ext cx="896113" cy="0"/>
          </a:xfrm>
          <a:prstGeom prst="line">
            <a:avLst/>
          </a:prstGeom>
          <a:ln w="25400">
            <a:solidFill>
              <a:srgbClr val="5B77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9125711" y="2157984"/>
            <a:ext cx="512064" cy="512064"/>
          </a:xfrm>
          <a:prstGeom prst="ellipse">
            <a:avLst/>
          </a:prstGeom>
          <a:solidFill>
            <a:srgbClr val="DE6A5B"/>
          </a:solidFill>
          <a:ln>
            <a:solidFill>
              <a:srgbClr val="DE6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25711" y="2286000"/>
            <a:ext cx="51206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 i="0">
                <a:solidFill>
                  <a:srgbClr val="121C23"/>
                </a:solidFill>
                <a:latin typeface="Aptos Display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25711" y="2907792"/>
            <a:ext cx="2240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F6F4EE"/>
                </a:solidFill>
                <a:latin typeface="Aptos Display"/>
              </a:rPr>
              <a:t>Decide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711" y="3310128"/>
            <a:ext cx="21488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 i="0">
                <a:solidFill>
                  <a:srgbClr val="B7CDC6"/>
                </a:solidFill>
                <a:latin typeface="Aptos"/>
              </a:rPr>
              <a:t>Authorized human records rationale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" y="4617720"/>
            <a:ext cx="10561320" cy="868680"/>
          </a:xfrm>
          <a:prstGeom prst="roundRect">
            <a:avLst>
              <a:gd name="adj" fmla="val 8000"/>
            </a:avLst>
          </a:prstGeom>
          <a:solidFill>
            <a:srgbClr val="2A3D42"/>
          </a:solidFill>
          <a:ln>
            <a:solidFill>
              <a:srgbClr val="485F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892040"/>
            <a:ext cx="1097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5DC8A6"/>
                </a:solidFill>
                <a:latin typeface="Aptos"/>
              </a:rPr>
              <a:t>GUARDRAIL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86000" y="4855464"/>
            <a:ext cx="8412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F6F4EE"/>
                </a:solidFill>
                <a:latin typeface="Aptos"/>
              </a:rPr>
              <a:t>No agent or score endpoint can persist approved or rejected without an authorized human review record.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650992"/>
            <a:ext cx="960120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1">
                <a:solidFill>
                  <a:srgbClr val="B7CDC6"/>
                </a:solidFill>
                <a:latin typeface="Aptos"/>
              </a:rPr>
              <a:t>Feedback can restart validation or rescore the case; approvals are cleared when the underlying analysis changes.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6510528"/>
            <a:ext cx="73152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93A7A1"/>
                </a:solidFill>
                <a:latin typeface="Aptos"/>
              </a:rPr>
              <a:t>PROMPT PIONEERS | APPLICATION INTELLIGENCE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6510528"/>
            <a:ext cx="4251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1" i="0">
                <a:solidFill>
                  <a:srgbClr val="93A7A1"/>
                </a:solidFill>
                <a:latin typeface="Aptos"/>
              </a:rPr>
              <a:t>DIRECTORATE OF ENVIRONMENT AND CLIMATE CHANGE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solidFill>
              <a:srgbClr val="F6F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114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238267"/>
                </a:solidFill>
                <a:latin typeface="Aptos"/>
              </a:rPr>
              <a:t>BUILT TO BE CHALLENGED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6984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21C23"/>
                </a:solidFill>
                <a:latin typeface="Aptos Display"/>
              </a:rPr>
              <a:t>A synthetic benchmark exercises the failure modes that matter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93192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748488"/>
                </a:solidFill>
                <a:latin typeface="Aptos"/>
              </a:rPr>
              <a:t>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481328"/>
            <a:ext cx="10972800" cy="0"/>
          </a:xfrm>
          <a:prstGeom prst="line">
            <a:avLst/>
          </a:prstGeom>
          <a:ln w="1270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1828800"/>
            <a:ext cx="137160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4AB1CD"/>
                </a:solidFill>
                <a:latin typeface="Aptos Display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359152"/>
            <a:ext cx="13716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748488"/>
                </a:solidFill>
                <a:latin typeface="Aptos"/>
              </a:rPr>
              <a:t>SCHEMES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1828800"/>
            <a:ext cx="182880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5DC8A6"/>
                </a:solidFill>
                <a:latin typeface="Aptos Display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2359152"/>
            <a:ext cx="18288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748488"/>
                </a:solidFill>
                <a:latin typeface="Aptos"/>
              </a:rPr>
              <a:t>APPLICATIONS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1828800"/>
            <a:ext cx="16459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F4B24A"/>
                </a:solidFill>
                <a:latin typeface="Aptos Display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2359152"/>
            <a:ext cx="1645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748488"/>
                </a:solidFill>
                <a:latin typeface="Aptos"/>
              </a:rPr>
              <a:t>CASE 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1828800"/>
            <a:ext cx="256032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DE6A5B"/>
                </a:solidFill>
                <a:latin typeface="Aptos Display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359152"/>
            <a:ext cx="25603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748488"/>
                </a:solidFill>
                <a:latin typeface="Aptos"/>
              </a:rPr>
              <a:t>AI-ONLY FINAL DECISIONS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788920"/>
            <a:ext cx="10808208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FD8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3200400"/>
            <a:ext cx="118872" cy="118872"/>
          </a:xfrm>
          <a:prstGeom prst="ellipse">
            <a:avLst/>
          </a:prstGeom>
          <a:solidFill>
            <a:srgbClr val="5DC8A6"/>
          </a:solidFill>
          <a:ln>
            <a:solidFill>
              <a:srgbClr val="5DC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8448" y="3163824"/>
            <a:ext cx="1783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1C23"/>
                </a:solidFill>
                <a:latin typeface="Aptos"/>
              </a:rPr>
              <a:t>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81528" y="3163824"/>
            <a:ext cx="2651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748488"/>
                </a:solidFill>
                <a:latin typeface="Aptos"/>
              </a:rPr>
              <a:t>Proceed to scoring</a:t>
            </a:r>
          </a:p>
        </p:txBody>
      </p:sp>
      <p:sp>
        <p:nvSpPr>
          <p:cNvPr id="19" name="Oval 18"/>
          <p:cNvSpPr/>
          <p:nvPr/>
        </p:nvSpPr>
        <p:spPr>
          <a:xfrm>
            <a:off x="1051560" y="3794760"/>
            <a:ext cx="118872" cy="118872"/>
          </a:xfrm>
          <a:prstGeom prst="ellipse">
            <a:avLst/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3758184"/>
            <a:ext cx="1783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1C23"/>
                </a:solidFill>
                <a:latin typeface="Aptos"/>
              </a:rPr>
              <a:t>Incomplete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81528" y="3758184"/>
            <a:ext cx="2651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748488"/>
                </a:solidFill>
                <a:latin typeface="Aptos"/>
              </a:rPr>
              <a:t>Request more information</a:t>
            </a:r>
          </a:p>
        </p:txBody>
      </p:sp>
      <p:sp>
        <p:nvSpPr>
          <p:cNvPr id="22" name="Oval 21"/>
          <p:cNvSpPr/>
          <p:nvPr/>
        </p:nvSpPr>
        <p:spPr>
          <a:xfrm>
            <a:off x="1051560" y="4389120"/>
            <a:ext cx="118872" cy="118872"/>
          </a:xfrm>
          <a:prstGeom prst="ellipse">
            <a:avLst/>
          </a:prstGeom>
          <a:solidFill>
            <a:srgbClr val="DE6A5B"/>
          </a:solidFill>
          <a:ln>
            <a:solidFill>
              <a:srgbClr val="DE6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8448" y="4352544"/>
            <a:ext cx="1783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1C23"/>
                </a:solidFill>
                <a:latin typeface="Aptos"/>
              </a:rPr>
              <a:t>Contradictory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81528" y="4352544"/>
            <a:ext cx="2651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748488"/>
                </a:solidFill>
                <a:latin typeface="Aptos"/>
              </a:rPr>
              <a:t>Clarify before scoring</a:t>
            </a:r>
          </a:p>
        </p:txBody>
      </p:sp>
      <p:sp>
        <p:nvSpPr>
          <p:cNvPr id="25" name="Oval 24"/>
          <p:cNvSpPr/>
          <p:nvPr/>
        </p:nvSpPr>
        <p:spPr>
          <a:xfrm>
            <a:off x="6263640" y="3200400"/>
            <a:ext cx="118872" cy="118872"/>
          </a:xfrm>
          <a:prstGeom prst="ellipse">
            <a:avLst/>
          </a:prstGeom>
          <a:solidFill>
            <a:srgbClr val="DE6A5B"/>
          </a:solidFill>
          <a:ln>
            <a:solidFill>
              <a:srgbClr val="DE6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7" y="3163824"/>
            <a:ext cx="1783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1C23"/>
                </a:solidFill>
                <a:latin typeface="Aptos"/>
              </a:rPr>
              <a:t>Low-quality / suspicious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651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748488"/>
                </a:solidFill>
                <a:latin typeface="Aptos"/>
              </a:rPr>
              <a:t>Manual verification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3794760"/>
            <a:ext cx="118872" cy="118872"/>
          </a:xfrm>
          <a:prstGeom prst="ellipse">
            <a:avLst/>
          </a:prstGeom>
          <a:solidFill>
            <a:srgbClr val="4AB1CD"/>
          </a:solidFill>
          <a:ln>
            <a:solidFill>
              <a:srgbClr val="4A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7" y="3758184"/>
            <a:ext cx="1783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1C23"/>
                </a:solidFill>
                <a:latin typeface="Aptos"/>
              </a:rPr>
              <a:t>Duplicate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3758184"/>
            <a:ext cx="2651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748488"/>
                </a:solidFill>
                <a:latin typeface="Aptos"/>
              </a:rPr>
              <a:t>Duplicate review</a:t>
            </a:r>
          </a:p>
        </p:txBody>
      </p:sp>
      <p:sp>
        <p:nvSpPr>
          <p:cNvPr id="31" name="Oval 30"/>
          <p:cNvSpPr/>
          <p:nvPr/>
        </p:nvSpPr>
        <p:spPr>
          <a:xfrm>
            <a:off x="6263640" y="4389120"/>
            <a:ext cx="118872" cy="118872"/>
          </a:xfrm>
          <a:prstGeom prst="ellipse">
            <a:avLst/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7" y="4352544"/>
            <a:ext cx="17830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21C23"/>
                </a:solidFill>
                <a:latin typeface="Aptos"/>
              </a:rPr>
              <a:t>Borderline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352544"/>
            <a:ext cx="2651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 i="0">
                <a:solidFill>
                  <a:srgbClr val="748488"/>
                </a:solidFill>
                <a:latin typeface="Aptos"/>
              </a:rPr>
              <a:t>Conditional human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5650992"/>
            <a:ext cx="10515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2D35"/>
                </a:solidFill>
                <a:latin typeface="Aptos"/>
              </a:rPr>
              <a:t>Acceptance targets include 100% required-document classification, contradiction recall, duplicate recall, and zero AI-only final decisions.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510528"/>
            <a:ext cx="73152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748488"/>
                </a:solidFill>
                <a:latin typeface="Aptos"/>
              </a:rPr>
              <a:t>PROMPT PIONEERS | APPLICATION INTELLIGENCE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6510528"/>
            <a:ext cx="4251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1" i="0">
                <a:solidFill>
                  <a:srgbClr val="748488"/>
                </a:solidFill>
                <a:latin typeface="Aptos"/>
              </a:rPr>
              <a:t>DIRECTORATE OF ENVIRONMENT AND CLIMATE CHANGE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solidFill>
              <a:srgbClr val="F6F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4114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 i="0">
                <a:solidFill>
                  <a:srgbClr val="238267"/>
                </a:solidFill>
                <a:latin typeface="Aptos"/>
              </a:rPr>
              <a:t>REVIEWER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106984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 i="0">
                <a:solidFill>
                  <a:srgbClr val="121C23"/>
                </a:solidFill>
                <a:latin typeface="Aptos Display"/>
              </a:rPr>
              <a:t>A five-minute path through the working POC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393192"/>
            <a:ext cx="5029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 i="0">
                <a:solidFill>
                  <a:srgbClr val="748488"/>
                </a:solidFill>
                <a:latin typeface="Aptos"/>
              </a:rPr>
              <a:t>09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481328"/>
            <a:ext cx="10972800" cy="0"/>
          </a:xfrm>
          <a:prstGeom prst="line">
            <a:avLst/>
          </a:prstGeom>
          <a:ln w="1270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13232" y="1828800"/>
            <a:ext cx="640080" cy="438912"/>
          </a:xfrm>
          <a:prstGeom prst="roundRect">
            <a:avLst>
              <a:gd name="adj" fmla="val 8000"/>
            </a:avLst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47672"/>
            <a:ext cx="64008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5DC8A6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" y="1883664"/>
            <a:ext cx="1463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21C23"/>
                </a:solidFill>
                <a:latin typeface="Aptos Display"/>
              </a:rPr>
              <a:t>Log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901952"/>
            <a:ext cx="7132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F2D35"/>
                </a:solidFill>
                <a:latin typeface="Aptos"/>
              </a:rPr>
              <a:t>Applicant and admin roles are enforced server-side.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53312" y="2048256"/>
            <a:ext cx="219456" cy="0"/>
          </a:xfrm>
          <a:prstGeom prst="line">
            <a:avLst/>
          </a:prstGeom>
          <a:ln w="1778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3232" y="2578608"/>
            <a:ext cx="640080" cy="438912"/>
          </a:xfrm>
          <a:prstGeom prst="roundRect">
            <a:avLst>
              <a:gd name="adj" fmla="val 8000"/>
            </a:avLst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697479"/>
            <a:ext cx="64008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5DC8A6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2633472"/>
            <a:ext cx="1463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21C23"/>
                </a:solidFill>
                <a:latin typeface="Aptos Display"/>
              </a:rPr>
              <a:t>Submit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2651760"/>
            <a:ext cx="7132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F2D35"/>
                </a:solidFill>
                <a:latin typeface="Aptos"/>
              </a:rPr>
              <a:t>Choose a scheme and upload a mixed document bundle.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53312" y="2798063"/>
            <a:ext cx="219456" cy="0"/>
          </a:xfrm>
          <a:prstGeom prst="line">
            <a:avLst/>
          </a:prstGeom>
          <a:ln w="1778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13232" y="3328415"/>
            <a:ext cx="640080" cy="438912"/>
          </a:xfrm>
          <a:prstGeom prst="roundRect">
            <a:avLst>
              <a:gd name="adj" fmla="val 8000"/>
            </a:avLst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447287"/>
            <a:ext cx="64008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5DC8A6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383279"/>
            <a:ext cx="1463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21C23"/>
                </a:solidFill>
                <a:latin typeface="Aptos Display"/>
              </a:rPr>
              <a:t>Inspect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3401568"/>
            <a:ext cx="7132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F2D35"/>
                </a:solidFill>
                <a:latin typeface="Aptos"/>
              </a:rPr>
              <a:t>Watch ingestion, extraction, validation, and duplicate checks.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53312" y="3547872"/>
            <a:ext cx="219456" cy="0"/>
          </a:xfrm>
          <a:prstGeom prst="line">
            <a:avLst/>
          </a:prstGeom>
          <a:ln w="1778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13232" y="4078224"/>
            <a:ext cx="640080" cy="438912"/>
          </a:xfrm>
          <a:prstGeom prst="roundRect">
            <a:avLst>
              <a:gd name="adj" fmla="val 8000"/>
            </a:avLst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4197096"/>
            <a:ext cx="64008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5DC8A6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4208" y="4133087"/>
            <a:ext cx="1463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21C23"/>
                </a:solidFill>
                <a:latin typeface="Aptos Display"/>
              </a:rPr>
              <a:t>Intervene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151376"/>
            <a:ext cx="7132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F2D35"/>
                </a:solidFill>
                <a:latin typeface="Aptos"/>
              </a:rPr>
              <a:t>Give validation or scoring feedback; see the case resume.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53312" y="4297680"/>
            <a:ext cx="219456" cy="0"/>
          </a:xfrm>
          <a:prstGeom prst="line">
            <a:avLst/>
          </a:prstGeom>
          <a:ln w="1778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3232" y="4828031"/>
            <a:ext cx="640080" cy="438912"/>
          </a:xfrm>
          <a:prstGeom prst="roundRect">
            <a:avLst>
              <a:gd name="adj" fmla="val 8000"/>
            </a:avLst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4946903"/>
            <a:ext cx="64008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 i="0">
                <a:solidFill>
                  <a:srgbClr val="5DC8A6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4208" y="4882895"/>
            <a:ext cx="1463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21C23"/>
                </a:solidFill>
                <a:latin typeface="Aptos Display"/>
              </a:rPr>
              <a:t>Decide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4901183"/>
            <a:ext cx="7132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F2D35"/>
                </a:solidFill>
                <a:latin typeface="Aptos"/>
              </a:rPr>
              <a:t>Approve the score, then record a rationale-backed decision.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353312" y="5047488"/>
            <a:ext cx="219456" cy="0"/>
          </a:xfrm>
          <a:prstGeom prst="line">
            <a:avLst/>
          </a:prstGeom>
          <a:ln w="17780">
            <a:solidFill>
              <a:srgbClr val="CFD8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13232" y="5715000"/>
            <a:ext cx="10744200" cy="384048"/>
          </a:xfrm>
          <a:prstGeom prst="roundRect">
            <a:avLst>
              <a:gd name="adj" fmla="val 8000"/>
            </a:avLst>
          </a:prstGeom>
          <a:solidFill>
            <a:srgbClr val="E7F3EF"/>
          </a:solidFill>
          <a:ln>
            <a:solidFill>
              <a:srgbClr val="E7F3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5815584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1" i="0">
                <a:solidFill>
                  <a:srgbClr val="238267"/>
                </a:solidFill>
                <a:latin typeface="Aptos"/>
              </a:rPr>
              <a:t>Demo data: data/applications/ | Local run: scripts/run_dev.ps1 | API docs: /docs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510528"/>
            <a:ext cx="73152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750" b="1" i="0">
                <a:solidFill>
                  <a:srgbClr val="748488"/>
                </a:solidFill>
                <a:latin typeface="Aptos"/>
              </a:rPr>
              <a:t>PROMPT PIONEERS | APPLICATION INTELLIGENCE PLATFORM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6510528"/>
            <a:ext cx="4251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750" b="1" i="0">
                <a:solidFill>
                  <a:srgbClr val="748488"/>
                </a:solidFill>
                <a:latin typeface="Aptos"/>
              </a:rPr>
              <a:t>DIRECTORATE OF ENVIRONMENT AND CLIMATE CHANGE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DC8A6"/>
          </a:solidFill>
          <a:ln>
            <a:solidFill>
              <a:srgbClr val="5DC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713232"/>
            <a:ext cx="20116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21C23"/>
                </a:solidFill>
                <a:latin typeface="Aptos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298448"/>
            <a:ext cx="480060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100" b="1" i="0">
                <a:solidFill>
                  <a:srgbClr val="121C23"/>
                </a:solidFill>
                <a:latin typeface="Aptos Display"/>
              </a:rPr>
              <a:t>A reviewer-facing
application intelligence
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2971800"/>
            <a:ext cx="48006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F2D35"/>
                </a:solidFill>
                <a:latin typeface="Aptos"/>
              </a:rPr>
              <a:t>Submission, extraction, validation, duplicate checks, explainable scoring, routing, feedback, approvals, audit, and final human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89320" y="713232"/>
            <a:ext cx="5468112" cy="4370832"/>
          </a:xfrm>
          <a:prstGeom prst="roundRect">
            <a:avLst>
              <a:gd name="adj" fmla="val 8000"/>
            </a:avLst>
          </a:prstGeom>
          <a:solidFill>
            <a:srgbClr val="121C23"/>
          </a:solidFill>
          <a:ln>
            <a:solidFill>
              <a:srgbClr val="121C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27648" y="1060704"/>
            <a:ext cx="46634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5DC8A6"/>
                </a:solidFill>
                <a:latin typeface="Aptos"/>
              </a:rPr>
              <a:t>HOW IT PROVES ANSWERS ARE GROUNDED</a:t>
            </a:r>
          </a:p>
        </p:txBody>
      </p:sp>
      <p:sp>
        <p:nvSpPr>
          <p:cNvPr id="8" name="Oval 7"/>
          <p:cNvSpPr/>
          <p:nvPr/>
        </p:nvSpPr>
        <p:spPr>
          <a:xfrm>
            <a:off x="6327648" y="1554480"/>
            <a:ext cx="384048" cy="384048"/>
          </a:xfrm>
          <a:prstGeom prst="ellipse">
            <a:avLst/>
          </a:prstGeom>
          <a:solidFill>
            <a:srgbClr val="4AB1CD"/>
          </a:solidFill>
          <a:ln>
            <a:solidFill>
              <a:srgbClr val="4AB1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7648" y="1655064"/>
            <a:ext cx="384048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1" i="0">
                <a:solidFill>
                  <a:srgbClr val="121C23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76288" y="1545336"/>
            <a:ext cx="12984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F6F4EE"/>
                </a:solidFill>
                <a:latin typeface="Aptos"/>
              </a:rPr>
              <a:t>Source-linked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545336"/>
            <a:ext cx="281635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BED3CD"/>
                </a:solidFill>
                <a:latin typeface="Aptos"/>
              </a:rPr>
              <a:t>Raw files and extracted document manifest remain available.</a:t>
            </a:r>
          </a:p>
        </p:txBody>
      </p:sp>
      <p:sp>
        <p:nvSpPr>
          <p:cNvPr id="12" name="Oval 11"/>
          <p:cNvSpPr/>
          <p:nvPr/>
        </p:nvSpPr>
        <p:spPr>
          <a:xfrm>
            <a:off x="6327648" y="2304288"/>
            <a:ext cx="384048" cy="384048"/>
          </a:xfrm>
          <a:prstGeom prst="ellipse">
            <a:avLst/>
          </a:prstGeom>
          <a:solidFill>
            <a:srgbClr val="5DC8A6"/>
          </a:solidFill>
          <a:ln>
            <a:solidFill>
              <a:srgbClr val="5DC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2404872"/>
            <a:ext cx="384048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1" i="0">
                <a:solidFill>
                  <a:srgbClr val="121C23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2295144"/>
            <a:ext cx="12984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F6F4EE"/>
                </a:solidFill>
                <a:latin typeface="Aptos"/>
              </a:rPr>
              <a:t>Structured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295144"/>
            <a:ext cx="281635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BED3CD"/>
                </a:solidFill>
                <a:latin typeface="Aptos"/>
              </a:rPr>
              <a:t>Pydantic results separate fields, flags, score, and uncertainty.</a:t>
            </a:r>
          </a:p>
        </p:txBody>
      </p:sp>
      <p:sp>
        <p:nvSpPr>
          <p:cNvPr id="16" name="Oval 15"/>
          <p:cNvSpPr/>
          <p:nvPr/>
        </p:nvSpPr>
        <p:spPr>
          <a:xfrm>
            <a:off x="6327648" y="3054096"/>
            <a:ext cx="384048" cy="384048"/>
          </a:xfrm>
          <a:prstGeom prst="ellipse">
            <a:avLst/>
          </a:prstGeom>
          <a:solidFill>
            <a:srgbClr val="F4B24A"/>
          </a:solidFill>
          <a:ln>
            <a:solidFill>
              <a:srgbClr val="F4B2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54679"/>
            <a:ext cx="384048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1" i="0">
                <a:solidFill>
                  <a:srgbClr val="121C23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3044952"/>
            <a:ext cx="12984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F6F4EE"/>
                </a:solidFill>
                <a:latin typeface="Aptos"/>
              </a:rPr>
              <a:t>Traceable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044952"/>
            <a:ext cx="281635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BED3CD"/>
                </a:solidFill>
                <a:latin typeface="Aptos"/>
              </a:rPr>
              <a:t>Analysis events capture stages, tool calls, reasoning, and retries.</a:t>
            </a:r>
          </a:p>
        </p:txBody>
      </p:sp>
      <p:sp>
        <p:nvSpPr>
          <p:cNvPr id="20" name="Oval 19"/>
          <p:cNvSpPr/>
          <p:nvPr/>
        </p:nvSpPr>
        <p:spPr>
          <a:xfrm>
            <a:off x="6327648" y="3803904"/>
            <a:ext cx="384048" cy="384048"/>
          </a:xfrm>
          <a:prstGeom prst="ellipse">
            <a:avLst/>
          </a:prstGeom>
          <a:solidFill>
            <a:srgbClr val="DE6A5B"/>
          </a:solidFill>
          <a:ln>
            <a:solidFill>
              <a:srgbClr val="DE6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3904488"/>
            <a:ext cx="384048" cy="14630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50" b="1" i="0">
                <a:solidFill>
                  <a:srgbClr val="121C23"/>
                </a:solidFill>
                <a:latin typeface="Apto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288" y="3794760"/>
            <a:ext cx="12984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F6F4EE"/>
                </a:solidFill>
                <a:latin typeface="Aptos"/>
              </a:rPr>
              <a:t>Testable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3794760"/>
            <a:ext cx="2816352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50" b="0" i="0">
                <a:solidFill>
                  <a:srgbClr val="BED3CD"/>
                </a:solidFill>
                <a:latin typeface="Aptos"/>
              </a:rPr>
              <a:t>12 labeled synthetic cases verify extraction, conflicts, duplicates, risk, and score arithmetic.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440680"/>
            <a:ext cx="10698480" cy="585216"/>
          </a:xfrm>
          <a:prstGeom prst="roundRect">
            <a:avLst>
              <a:gd name="adj" fmla="val 8000"/>
            </a:avLst>
          </a:prstGeom>
          <a:solidFill>
            <a:srgbClr val="E6F6F2"/>
          </a:solidFill>
          <a:ln>
            <a:solidFill>
              <a:srgbClr val="E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632704"/>
            <a:ext cx="1280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 i="0">
                <a:solidFill>
                  <a:srgbClr val="238267"/>
                </a:solidFill>
                <a:latin typeface="Aptos"/>
              </a:rPr>
              <a:t>Grounding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5614416"/>
            <a:ext cx="81381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21C23"/>
                </a:solidFill>
                <a:latin typeface="Aptos"/>
              </a:rPr>
              <a:t>No evidence, no confident claim. No human review record, no final approval or rejection.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6473952"/>
            <a:ext cx="80467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 i="0">
                <a:solidFill>
                  <a:srgbClr val="1F2D35"/>
                </a:solidFill>
                <a:latin typeface="Aptos"/>
              </a:rPr>
              <a:t>PROMPT PIONEERS | DIRECTORATE OF ENVIRONMENT AND CLIMATE CHANGE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