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40080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5DC8A6"/>
                </a:solidFill>
                <a:latin typeface="Aptos"/>
              </a:rPr>
              <a:t>PROMPT PIONEERS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640080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200" b="1" i="0">
                <a:solidFill>
                  <a:srgbClr val="F6F4EE"/>
                </a:solidFill>
                <a:latin typeface="Aptos Display"/>
              </a:rPr>
              <a:t>Application
Intelligence
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94760"/>
            <a:ext cx="6035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C4D7D0"/>
                </a:solidFill>
                <a:latin typeface="Aptos"/>
              </a:rPr>
              <a:t>A human-led evaluation system for environmental and climate scheme applications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8" y="4754880"/>
            <a:ext cx="4005072" cy="0"/>
          </a:xfrm>
          <a:prstGeom prst="line">
            <a:avLst/>
          </a:prstGeom>
          <a:ln w="25400">
            <a:solidFill>
              <a:srgbClr val="5DC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4992624"/>
            <a:ext cx="5394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6F4EE"/>
                </a:solidFill>
                <a:latin typeface="Aptos"/>
              </a:rPr>
              <a:t>Directorate of Environment and Climate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358384"/>
            <a:ext cx="5394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93A7A1"/>
                </a:solidFill>
                <a:latin typeface="Aptos"/>
              </a:rPr>
              <a:t>POC presentation | Synthetic data only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1828800"/>
            <a:ext cx="713232" cy="713232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75104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1C23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8" y="2724912"/>
            <a:ext cx="122529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6F4EE"/>
                </a:solidFill>
                <a:latin typeface="Aptos"/>
              </a:rPr>
              <a:t>INGEST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94192" y="2185416"/>
            <a:ext cx="502920" cy="0"/>
          </a:xfrm>
          <a:prstGeom prst="line">
            <a:avLst/>
          </a:prstGeom>
          <a:ln w="25400">
            <a:solidFill>
              <a:srgbClr val="65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924544" y="1828800"/>
            <a:ext cx="713232" cy="713232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24544" y="1975104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1C23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724912"/>
            <a:ext cx="122529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6F4EE"/>
                </a:solidFill>
                <a:latin typeface="Aptos"/>
              </a:rPr>
              <a:t>VALIDATE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7776" y="2185416"/>
            <a:ext cx="502920" cy="0"/>
          </a:xfrm>
          <a:prstGeom prst="line">
            <a:avLst/>
          </a:prstGeom>
          <a:ln w="25400">
            <a:solidFill>
              <a:srgbClr val="65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168128" y="1828800"/>
            <a:ext cx="713232" cy="713232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8128" y="1975104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1C23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2724912"/>
            <a:ext cx="122529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F6F4EE"/>
                </a:solidFill>
                <a:latin typeface="Aptos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840480"/>
            <a:ext cx="374903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5DC8A6"/>
                </a:solidFill>
                <a:latin typeface="Aptos Display"/>
              </a:rPr>
              <a:t>AI advises. Authorized reviewers decide.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93A7A1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3A7A1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Make every application explainable before it reaches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783080"/>
            <a:ext cx="64008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F2D35"/>
                </a:solidFill>
                <a:latin typeface="Aptos"/>
              </a:rPr>
              <a:t>Today, evidence is heterogeneous, review effort is uneven, and risk signals can hide in the gaps between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578608"/>
            <a:ext cx="5248656" cy="3017520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889504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24A"/>
                </a:solidFill>
                <a:latin typeface="Aptos"/>
              </a:rPr>
              <a:t>REVIEW FRICTION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383280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310128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Forms, proposals, certificates, budgets, images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776472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703320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Missing or unusable evidence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169664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096512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Conflicting claims across files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4562856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489704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Manual duplicate and authenticity checks</a:t>
            </a:r>
          </a:p>
        </p:txBody>
      </p:sp>
      <p:sp>
        <p:nvSpPr>
          <p:cNvPr id="18" name="Oval 17"/>
          <p:cNvSpPr/>
          <p:nvPr/>
        </p:nvSpPr>
        <p:spPr>
          <a:xfrm>
            <a:off x="941832" y="4956048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882896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Decisions that are hard to reconstruct later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578608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89504"/>
            <a:ext cx="2286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1C23"/>
                </a:solidFill>
                <a:latin typeface="Aptos"/>
              </a:rPr>
              <a:t>THE POC RESPONSE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383280"/>
            <a:ext cx="109728" cy="109728"/>
          </a:xfrm>
          <a:prstGeom prst="ellipse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10128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21C23"/>
                </a:solidFill>
                <a:latin typeface="Aptos"/>
              </a:rPr>
              <a:t>One pipeline from submission to reviewer queue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776472"/>
            <a:ext cx="109728" cy="109728"/>
          </a:xfrm>
          <a:prstGeom prst="ellipse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3703320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21C23"/>
                </a:solidFill>
                <a:latin typeface="Aptos"/>
              </a:rPr>
              <a:t>Evidence-linked extraction and validation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169664"/>
            <a:ext cx="109728" cy="109728"/>
          </a:xfrm>
          <a:prstGeom prst="ellipse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096512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21C23"/>
                </a:solidFill>
                <a:latin typeface="Aptos"/>
              </a:rPr>
              <a:t>Configurable weighted scoring with uncertainty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562856"/>
            <a:ext cx="109728" cy="109728"/>
          </a:xfrm>
          <a:prstGeom prst="ellipse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4489704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21C23"/>
                </a:solidFill>
                <a:latin typeface="Aptos"/>
              </a:rPr>
              <a:t>Audit events, feedback loops, and retryable stages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956048"/>
            <a:ext cx="109728" cy="109728"/>
          </a:xfrm>
          <a:prstGeom prst="ellipse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4882896"/>
            <a:ext cx="416966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21C23"/>
                </a:solidFill>
                <a:latin typeface="Aptos"/>
              </a:rPr>
              <a:t>Human-owned final decision with rationale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ONE CASE, ONE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From mixed documents to a defensible reviewer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755648"/>
            <a:ext cx="7315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D35"/>
                </a:solidFill>
                <a:latin typeface="Aptos"/>
              </a:rPr>
              <a:t>The platform turns a submission bundle into structured evidence, signals, and a next-best human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87168"/>
            <a:ext cx="1920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651760"/>
            <a:ext cx="310896" cy="310896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63347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21C23"/>
                </a:solidFill>
                <a:latin typeface="Aptos"/>
              </a:rP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935224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748488"/>
                </a:solidFill>
                <a:latin typeface="Aptos"/>
              </a:rPr>
              <a:t>Files, notes, pasted 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2999232"/>
            <a:ext cx="256031" cy="0"/>
          </a:xfrm>
          <a:prstGeom prst="line">
            <a:avLst/>
          </a:prstGeom>
          <a:ln w="19050">
            <a:solidFill>
              <a:srgbClr val="748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2487168"/>
            <a:ext cx="1920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4952" y="2651760"/>
            <a:ext cx="310896" cy="310896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265176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63347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21C23"/>
                </a:solidFill>
                <a:latin typeface="Aptos"/>
              </a:rP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2935224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748488"/>
                </a:solidFill>
                <a:latin typeface="Aptos"/>
              </a:rPr>
              <a:t>Text, fields, summary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2999232"/>
            <a:ext cx="256031" cy="0"/>
          </a:xfrm>
          <a:prstGeom prst="line">
            <a:avLst/>
          </a:prstGeom>
          <a:ln w="19050">
            <a:solidFill>
              <a:srgbClr val="748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2352" y="2487168"/>
            <a:ext cx="1920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66944" y="2651760"/>
            <a:ext cx="310896" cy="310896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265176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263347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21C23"/>
                </a:solidFill>
                <a:latin typeface="Aptos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2935224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748488"/>
                </a:solidFill>
                <a:latin typeface="Aptos"/>
              </a:rPr>
              <a:t>Completeness, conflicts, 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22592" y="2999232"/>
            <a:ext cx="256032" cy="0"/>
          </a:xfrm>
          <a:prstGeom prst="line">
            <a:avLst/>
          </a:prstGeom>
          <a:ln w="19050">
            <a:solidFill>
              <a:srgbClr val="748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24344" y="2487168"/>
            <a:ext cx="1920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88936" y="2651760"/>
            <a:ext cx="310896" cy="310896"/>
          </a:xfrm>
          <a:prstGeom prst="ellipse">
            <a:avLst/>
          </a:prstGeom>
          <a:solidFill>
            <a:srgbClr val="DE6A5B"/>
          </a:solidFill>
          <a:ln>
            <a:solidFill>
              <a:srgbClr val="D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65176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263347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21C23"/>
                </a:solidFill>
                <a:latin typeface="Aptos"/>
              </a:rP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935224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748488"/>
                </a:solidFill>
                <a:latin typeface="Aptos"/>
              </a:rPr>
              <a:t>Weighted, explainable aid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44584" y="2999232"/>
            <a:ext cx="256032" cy="0"/>
          </a:xfrm>
          <a:prstGeom prst="line">
            <a:avLst/>
          </a:prstGeom>
          <a:ln w="19050">
            <a:solidFill>
              <a:srgbClr val="748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46336" y="2487168"/>
            <a:ext cx="192024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10928" y="2651760"/>
            <a:ext cx="310896" cy="310896"/>
          </a:xfrm>
          <a:prstGeom prst="ellipse">
            <a:avLst/>
          </a:prstGeom>
          <a:solidFill>
            <a:srgbClr val="238267"/>
          </a:solidFill>
          <a:ln>
            <a:solidFill>
              <a:srgbClr val="238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265176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263347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21C23"/>
                </a:solidFill>
                <a:latin typeface="Aptos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31552" y="2935224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748488"/>
                </a:solidFill>
                <a:latin typeface="Aptos"/>
              </a:rPr>
              <a:t>Route, override, decide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160520"/>
            <a:ext cx="1080820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434840"/>
            <a:ext cx="1234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CASE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0552" y="4407408"/>
            <a:ext cx="87782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500" b="1">
                <a:solidFill>
                  <a:srgbClr val="121C23"/>
                </a:solidFill>
                <a:latin typeface="Aptos"/>
              </a:rPr>
              <a:t>Route: </a:t>
            </a:r>
            <a:r>
              <a:rPr sz="1500" b="1">
                <a:solidFill>
                  <a:srgbClr val="DE6A5B"/>
                </a:solidFill>
                <a:latin typeface="Aptos"/>
              </a:rPr>
              <a:t>manual verification</a:t>
            </a:r>
            <a:r>
              <a:rPr sz="1500" b="1">
                <a:solidFill>
                  <a:srgbClr val="121C23"/>
                </a:solidFill>
                <a:latin typeface="Aptos"/>
              </a:rPr>
              <a:t>  |  Score: </a:t>
            </a:r>
            <a:r>
              <a:rPr sz="1500" b="1">
                <a:solidFill>
                  <a:srgbClr val="121C23"/>
                </a:solidFill>
                <a:latin typeface="Aptos"/>
              </a:rPr>
              <a:t>72 / 100</a:t>
            </a:r>
            <a:r>
              <a:rPr sz="1500" b="1">
                <a:solidFill>
                  <a:srgbClr val="121C23"/>
                </a:solidFill>
                <a:latin typeface="Aptos"/>
              </a:rPr>
              <a:t>  |  Flags: </a:t>
            </a:r>
            <a:r>
              <a:rPr sz="1500" b="0">
                <a:solidFill>
                  <a:srgbClr val="DE6A5B"/>
                </a:solidFill>
                <a:latin typeface="Aptos"/>
              </a:rPr>
              <a:t>unusable certificate + duplicate similarity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800600"/>
            <a:ext cx="98755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748488"/>
                </a:solidFill>
                <a:latin typeface="Aptos"/>
              </a:rPr>
              <a:t>Every output remains advisory until an authorized reviewer records a decision and rationale.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TWO CONNECTED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A replaceable portal for applicants and reviewers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874519"/>
            <a:ext cx="5230368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2560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AB1CD"/>
                </a:solidFill>
                <a:latin typeface="Aptos"/>
              </a:rPr>
              <a:t>APPLICANT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21C23"/>
                </a:solidFill>
                <a:latin typeface="Aptos Display"/>
              </a:rPr>
              <a:t>Submit once. See what happens next.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3346704"/>
            <a:ext cx="109728" cy="109728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273552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Browse schemes and required documents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3730752"/>
            <a:ext cx="109728" cy="109728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657600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Upload PDF, DOCX, PPTX, XLSX, images, or ZIP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4114800"/>
            <a:ext cx="109728" cy="109728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041648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Track timeline and review status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4498848"/>
            <a:ext cx="109728" cy="109728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425696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Respond to requests and ask for re-evaluation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5010912"/>
            <a:ext cx="2971800" cy="420624"/>
          </a:xfrm>
          <a:prstGeom prst="roundRect">
            <a:avLst>
              <a:gd name="adj" fmla="val 8000"/>
            </a:avLst>
          </a:prstGeom>
          <a:solidFill>
            <a:srgbClr val="E6F6F2"/>
          </a:solidFill>
          <a:ln>
            <a:solidFill>
              <a:srgbClr val="E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5111496"/>
            <a:ext cx="2651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38267"/>
                </a:solidFill>
                <a:latin typeface="Aptos"/>
              </a:rPr>
              <a:t>Status: Awaiting validation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1874519"/>
            <a:ext cx="5230368" cy="3886200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2194560"/>
            <a:ext cx="2743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24A"/>
                </a:solidFill>
                <a:latin typeface="Aptos"/>
              </a:rPr>
              <a:t>REVIEWER WORKBENCH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2542032"/>
            <a:ext cx="42976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6F4EE"/>
                </a:solidFill>
                <a:latin typeface="Aptos Display"/>
              </a:rPr>
              <a:t>See evidence, not just a score.</a:t>
            </a:r>
          </a:p>
        </p:txBody>
      </p:sp>
      <p:sp>
        <p:nvSpPr>
          <p:cNvPr id="23" name="Oval 22"/>
          <p:cNvSpPr/>
          <p:nvPr/>
        </p:nvSpPr>
        <p:spPr>
          <a:xfrm>
            <a:off x="6620256" y="3346704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3273552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F4EE"/>
                </a:solidFill>
                <a:latin typeface="Aptos"/>
              </a:rPr>
              <a:t>Queue, assignment, and stage-aware timeline</a:t>
            </a:r>
          </a:p>
        </p:txBody>
      </p:sp>
      <p:sp>
        <p:nvSpPr>
          <p:cNvPr id="25" name="Oval 24"/>
          <p:cNvSpPr/>
          <p:nvPr/>
        </p:nvSpPr>
        <p:spPr>
          <a:xfrm>
            <a:off x="6620256" y="3730752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657600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F4EE"/>
                </a:solidFill>
                <a:latin typeface="Aptos"/>
              </a:rPr>
              <a:t>Extracted fields, summary, and source files</a:t>
            </a:r>
          </a:p>
        </p:txBody>
      </p:sp>
      <p:sp>
        <p:nvSpPr>
          <p:cNvPr id="27" name="Oval 26"/>
          <p:cNvSpPr/>
          <p:nvPr/>
        </p:nvSpPr>
        <p:spPr>
          <a:xfrm>
            <a:off x="6620256" y="4114800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4041648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F4EE"/>
                </a:solidFill>
                <a:latin typeface="Aptos"/>
              </a:rPr>
              <a:t>Missing evidence, contradictions, and risk flags</a:t>
            </a:r>
          </a:p>
        </p:txBody>
      </p:sp>
      <p:sp>
        <p:nvSpPr>
          <p:cNvPr id="29" name="Oval 28"/>
          <p:cNvSpPr/>
          <p:nvPr/>
        </p:nvSpPr>
        <p:spPr>
          <a:xfrm>
            <a:off x="6620256" y="4498848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4425696"/>
            <a:ext cx="3986783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F6F4EE"/>
                </a:solidFill>
                <a:latin typeface="Aptos"/>
              </a:rPr>
              <a:t>Score breakdown, feedback, approvals, audit 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0256" y="5010912"/>
            <a:ext cx="2971800" cy="420624"/>
          </a:xfrm>
          <a:prstGeom prst="roundRect">
            <a:avLst>
              <a:gd name="adj" fmla="val 8000"/>
            </a:avLst>
          </a:prstGeom>
          <a:solidFill>
            <a:srgbClr val="3F4E50"/>
          </a:solidFill>
          <a:ln>
            <a:solidFill>
              <a:srgbClr val="3F4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3136" y="5111496"/>
            <a:ext cx="2743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24A"/>
                </a:solidFill>
                <a:latin typeface="Aptos"/>
              </a:rPr>
              <a:t>Action: Request more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DC8A6"/>
                </a:solidFill>
                <a:latin typeface="Aptos"/>
              </a:rPr>
              <a:t>ON-PREMISE-READY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6F4EE"/>
                </a:solidFill>
                <a:latin typeface="Aptos Display"/>
              </a:rPr>
              <a:t>A modular API boundary keeps data, models, and decisions governable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2C3BE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47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74519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4AB1CD"/>
                </a:solidFill>
                <a:latin typeface="Aptos"/>
              </a:rPr>
              <a:t>USER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15184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F4EE"/>
                </a:solidFill>
                <a:latin typeface="Aptos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63240"/>
            <a:ext cx="141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ED3CD"/>
                </a:solidFill>
                <a:latin typeface="Aptos"/>
              </a:rPr>
              <a:t>Streamlit portal
Applicant + admin 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874519"/>
            <a:ext cx="1993392" cy="324612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157984"/>
            <a:ext cx="1600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DC8A6"/>
                </a:solidFill>
                <a:latin typeface="Aptos"/>
              </a:rPr>
              <a:t>TRUST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15184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F4EE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63240"/>
            <a:ext cx="1417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ED3CD"/>
                </a:solidFill>
                <a:latin typeface="Aptos"/>
              </a:rPr>
              <a:t>JWT auth
Role + ownership guards
REST / OpenAPI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13248" y="1874519"/>
            <a:ext cx="2880360" cy="324612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2157984"/>
            <a:ext cx="1920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4B24A"/>
                </a:solidFill>
                <a:latin typeface="Aptos"/>
              </a:rPr>
              <a:t>LOCAL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15184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F4EE"/>
                </a:solidFill>
                <a:latin typeface="Aptos"/>
              </a:rPr>
              <a:t>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3063240"/>
            <a:ext cx="205740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ED3CD"/>
                </a:solidFill>
                <a:latin typeface="Aptos"/>
              </a:rPr>
              <a:t>Ingestion + OCR
Agents + tools
Chroma duplicate check
SQLite /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0224" y="1874519"/>
            <a:ext cx="2880360" cy="324612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157984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E6A5B"/>
                </a:solidFill>
                <a:latin typeface="Aptos"/>
              </a:rPr>
              <a:t>CONTROLLED ADAPTERS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615184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6F4EE"/>
                </a:solidFill>
                <a:latin typeface="Aptos"/>
              </a:rPr>
              <a:t>Providers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3063240"/>
            <a:ext cx="214884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ED3CD"/>
                </a:solidFill>
                <a:latin typeface="Aptos"/>
              </a:rPr>
              <a:t>Ollama local default
Bedrock / Anthropic / OpenAI
Optional organisation check
Mock portal integrations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06624" y="3502152"/>
            <a:ext cx="356616" cy="0"/>
          </a:xfrm>
          <a:prstGeom prst="line">
            <a:avLst/>
          </a:prstGeom>
          <a:ln w="25400">
            <a:solidFill>
              <a:srgbClr val="5DC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56632" y="3502152"/>
            <a:ext cx="356616" cy="0"/>
          </a:xfrm>
          <a:prstGeom prst="line">
            <a:avLst/>
          </a:prstGeom>
          <a:ln w="25400">
            <a:solidFill>
              <a:srgbClr val="5DC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02752" y="3502152"/>
            <a:ext cx="356616" cy="0"/>
          </a:xfrm>
          <a:prstGeom prst="line">
            <a:avLst/>
          </a:prstGeom>
          <a:ln w="25400">
            <a:solidFill>
              <a:srgbClr val="5DC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5650992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C0D4CE"/>
                </a:solidFill>
                <a:latin typeface="Aptos"/>
              </a:rPr>
              <a:t>Raw files, extracted content, embeddings, events, and human decisions stay in durable, auditable stores.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93A7A1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3A7A1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BOUNDED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Agents are configured capabilities, not autonomous decision-makers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" y="1755648"/>
            <a:ext cx="7772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1F2D35"/>
                </a:solidFill>
                <a:latin typeface="Aptos"/>
              </a:rPr>
              <a:t>Each stage has a narrow purpose, declared tools, structured output, and a durable event trail.</a:t>
            </a:r>
          </a:p>
        </p:txBody>
      </p:sp>
      <p:sp>
        <p:nvSpPr>
          <p:cNvPr id="8" name="Oval 7"/>
          <p:cNvSpPr/>
          <p:nvPr/>
        </p:nvSpPr>
        <p:spPr>
          <a:xfrm>
            <a:off x="1197864" y="2487168"/>
            <a:ext cx="713232" cy="713232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670048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5643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1C23"/>
                </a:solidFill>
                <a:latin typeface="Aptos"/>
              </a:rP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40480"/>
            <a:ext cx="1691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748488"/>
                </a:solidFill>
                <a:latin typeface="Aptos"/>
              </a:rPr>
              <a:t>Index bundles
Find duplicates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4872" y="2843784"/>
            <a:ext cx="429767" cy="0"/>
          </a:xfrm>
          <a:prstGeom prst="line">
            <a:avLst/>
          </a:prstGeom>
          <a:ln w="1905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38144" y="2487168"/>
            <a:ext cx="713232" cy="713232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2670048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45643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1C23"/>
                </a:solidFill>
                <a:latin typeface="Aptos"/>
              </a:rPr>
              <a:t>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840480"/>
            <a:ext cx="1691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748488"/>
                </a:solidFill>
                <a:latin typeface="Aptos"/>
              </a:rPr>
              <a:t>Fields +
summary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45152" y="2843784"/>
            <a:ext cx="429768" cy="0"/>
          </a:xfrm>
          <a:prstGeom prst="line">
            <a:avLst/>
          </a:prstGeom>
          <a:ln w="1905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678424" y="2487168"/>
            <a:ext cx="713232" cy="713232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8424" y="2670048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45643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1C23"/>
                </a:solidFill>
                <a:latin typeface="Aptos"/>
              </a:rP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3840480"/>
            <a:ext cx="1691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748488"/>
                </a:solidFill>
                <a:latin typeface="Aptos"/>
              </a:rPr>
              <a:t>Completeness
+ 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85432" y="2843784"/>
            <a:ext cx="429768" cy="0"/>
          </a:xfrm>
          <a:prstGeom prst="line">
            <a:avLst/>
          </a:prstGeom>
          <a:ln w="1905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18704" y="2487168"/>
            <a:ext cx="713232" cy="713232"/>
          </a:xfrm>
          <a:prstGeom prst="ellipse">
            <a:avLst/>
          </a:prstGeom>
          <a:solidFill>
            <a:srgbClr val="DE6A5B"/>
          </a:solidFill>
          <a:ln>
            <a:solidFill>
              <a:srgbClr val="D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2670048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345643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1C23"/>
                </a:solidFill>
                <a:latin typeface="Aptos"/>
              </a:rPr>
              <a:t>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3840480"/>
            <a:ext cx="1691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748488"/>
                </a:solidFill>
                <a:latin typeface="Aptos"/>
              </a:rPr>
              <a:t>Weighted
explanation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25712" y="2843784"/>
            <a:ext cx="429768" cy="0"/>
          </a:xfrm>
          <a:prstGeom prst="line">
            <a:avLst/>
          </a:prstGeom>
          <a:ln w="1905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158984" y="2487168"/>
            <a:ext cx="713232" cy="713232"/>
          </a:xfrm>
          <a:prstGeom prst="ellipse">
            <a:avLst/>
          </a:prstGeom>
          <a:solidFill>
            <a:srgbClr val="238267"/>
          </a:solidFill>
          <a:ln>
            <a:solidFill>
              <a:srgbClr val="238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8984" y="2670048"/>
            <a:ext cx="7132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3456432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1C23"/>
                </a:solidFill>
                <a:latin typeface="Aptos"/>
              </a:rPr>
              <a:t>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3840480"/>
            <a:ext cx="1691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748488"/>
                </a:solidFill>
                <a:latin typeface="Aptos"/>
              </a:rPr>
              <a:t>Route +
audit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4828032"/>
            <a:ext cx="10771632" cy="713232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solidFill>
              <a:srgbClr val="E7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056632"/>
            <a:ext cx="2148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8267"/>
                </a:solidFill>
                <a:latin typeface="Aptos"/>
              </a:rPr>
              <a:t>Structured Pydantic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056632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F2D35"/>
                </a:solidFill>
                <a:latin typeface="Aptos"/>
              </a:rPr>
              <a:t>Extraction fields | validation flags | scoring explanation | review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5358384"/>
            <a:ext cx="9601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748488"/>
                </a:solidFill>
                <a:latin typeface="Aptos"/>
              </a:rPr>
              <a:t>Skills provide policy context; tools perform bounded domain operations; API authorization remains the control plane.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EVIDENCE BEFORE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Validation and scoring expose uncertainty instead of hiding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828800"/>
            <a:ext cx="5266944" cy="4096512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76272"/>
            <a:ext cx="2377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24A"/>
                </a:solidFill>
                <a:latin typeface="Aptos"/>
              </a:rPr>
              <a:t>VALIDATION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70048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C2D3CD"/>
                </a:solidFill>
                <a:latin typeface="Aptos"/>
              </a:rPr>
              <a:t>Required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2670048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5DC8A6"/>
                </a:solidFill>
                <a:latin typeface="Aptos"/>
              </a:rPr>
              <a:t>8 / 10 usable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87552" y="2999232"/>
            <a:ext cx="4480560" cy="0"/>
          </a:xfrm>
          <a:prstGeom prst="line">
            <a:avLst/>
          </a:prstGeom>
          <a:ln w="8890">
            <a:solidFill>
              <a:srgbClr val="405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87552" y="3328415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C2D3CD"/>
                </a:solidFill>
                <a:latin typeface="Aptos"/>
              </a:rPr>
              <a:t>Material conflicts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3328415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DE6A5B"/>
                </a:solidFill>
                <a:latin typeface="Aptos"/>
              </a:rPr>
              <a:t>2 found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7552" y="3657599"/>
            <a:ext cx="4480560" cy="0"/>
          </a:xfrm>
          <a:prstGeom prst="line">
            <a:avLst/>
          </a:prstGeom>
          <a:ln w="8890">
            <a:solidFill>
              <a:srgbClr val="405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7552" y="3986783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C2D3CD"/>
                </a:solidFill>
                <a:latin typeface="Aptos"/>
              </a:rPr>
              <a:t>Authenticity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986783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DE6A5B"/>
                </a:solidFill>
                <a:latin typeface="Aptos"/>
              </a:rPr>
              <a:t>High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" y="4315968"/>
            <a:ext cx="4480560" cy="0"/>
          </a:xfrm>
          <a:prstGeom prst="line">
            <a:avLst/>
          </a:prstGeom>
          <a:ln w="8890">
            <a:solidFill>
              <a:srgbClr val="405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87552" y="464515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C2D3CD"/>
                </a:solidFill>
                <a:latin typeface="Aptos"/>
              </a:rPr>
              <a:t>Human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464515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300" b="1" i="0">
                <a:solidFill>
                  <a:srgbClr val="F4B24A"/>
                </a:solidFill>
                <a:latin typeface="Aptos"/>
              </a:rPr>
              <a:t>Required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" y="4974336"/>
            <a:ext cx="4480560" cy="0"/>
          </a:xfrm>
          <a:prstGeom prst="line">
            <a:avLst/>
          </a:prstGeom>
          <a:ln w="8890">
            <a:solidFill>
              <a:srgbClr val="4053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72784" y="1828800"/>
            <a:ext cx="5266944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176272"/>
            <a:ext cx="23774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DE6A5B"/>
                </a:solidFill>
                <a:latin typeface="Aptos"/>
              </a:rPr>
              <a:t>ADVISORY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2560320"/>
            <a:ext cx="128016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200" b="1" i="0">
                <a:solidFill>
                  <a:srgbClr val="121C23"/>
                </a:solidFill>
                <a:latin typeface="Aptos Display"/>
              </a:rPr>
              <a:t>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889504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748488"/>
                </a:solidFill>
                <a:latin typeface="Aptos"/>
              </a:rPr>
              <a:t>/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675887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F2D35"/>
                </a:solidFill>
                <a:latin typeface="Aptos"/>
              </a:rPr>
              <a:t>Impact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4152" y="3694175"/>
            <a:ext cx="2057400" cy="137160"/>
          </a:xfrm>
          <a:prstGeom prst="roundRect">
            <a:avLst>
              <a:gd name="adj" fmla="val 8000"/>
            </a:avLst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74152" y="3694175"/>
            <a:ext cx="1645920" cy="137160"/>
          </a:xfrm>
          <a:prstGeom prst="roundRect">
            <a:avLst>
              <a:gd name="adj" fmla="val 8000"/>
            </a:avLst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3657599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21C23"/>
                </a:solidFill>
                <a:latin typeface="Aptos"/>
              </a:rPr>
              <a:t>28 / 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114800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F2D35"/>
                </a:solidFill>
                <a:latin typeface="Aptos"/>
              </a:rPr>
              <a:t>Feasibility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4152" y="4133087"/>
            <a:ext cx="2057400" cy="137160"/>
          </a:xfrm>
          <a:prstGeom prst="roundRect">
            <a:avLst>
              <a:gd name="adj" fmla="val 8000"/>
            </a:avLst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74152" y="4133087"/>
            <a:ext cx="1316736" cy="137160"/>
          </a:xfrm>
          <a:prstGeom prst="roundRect">
            <a:avLst>
              <a:gd name="adj" fmla="val 8000"/>
            </a:avLst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4096512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21C23"/>
                </a:solidFill>
                <a:latin typeface="Aptos"/>
              </a:rPr>
              <a:t>22 / 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553712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F2D35"/>
                </a:solidFill>
                <a:latin typeface="Aptos"/>
              </a:rPr>
              <a:t>Value for money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4152" y="4571999"/>
            <a:ext cx="2057400" cy="137160"/>
          </a:xfrm>
          <a:prstGeom prst="roundRect">
            <a:avLst>
              <a:gd name="adj" fmla="val 8000"/>
            </a:avLst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74152" y="4571999"/>
            <a:ext cx="1440180" cy="137160"/>
          </a:xfrm>
          <a:prstGeom prst="roundRect">
            <a:avLst>
              <a:gd name="adj" fmla="val 8000"/>
            </a:avLst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4535424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21C23"/>
                </a:solidFill>
                <a:latin typeface="Aptos"/>
              </a:rPr>
              <a:t>14 / 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992623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F2D35"/>
                </a:solidFill>
                <a:latin typeface="Aptos"/>
              </a:rPr>
              <a:t>Readiness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4152" y="5010911"/>
            <a:ext cx="2057400" cy="137160"/>
          </a:xfrm>
          <a:prstGeom prst="roundRect">
            <a:avLst>
              <a:gd name="adj" fmla="val 8000"/>
            </a:avLst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74152" y="5010911"/>
            <a:ext cx="1090422" cy="137160"/>
          </a:xfrm>
          <a:prstGeom prst="roundRect">
            <a:avLst>
              <a:gd name="adj" fmla="val 8000"/>
            </a:avLst>
          </a:prstGeom>
          <a:solidFill>
            <a:srgbClr val="DE6A5B"/>
          </a:solidFill>
          <a:ln>
            <a:solidFill>
              <a:srgbClr val="D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4974336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121C23"/>
                </a:solidFill>
                <a:latin typeface="Aptos"/>
              </a:rPr>
              <a:t>8 / 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5468112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748488"/>
                </a:solidFill>
                <a:latin typeface="Aptos"/>
              </a:rPr>
              <a:t>Score is not a final decision. Flags and source evidence travel with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DC8A6"/>
                </a:solidFill>
                <a:latin typeface="Aptos"/>
              </a:rPr>
              <a:t>HUMAN CONTROL IS A PRODUCT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6F4EE"/>
                </a:solidFill>
                <a:latin typeface="Aptos Display"/>
              </a:rPr>
              <a:t>The workflow makes intervention, override, and accountability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2C3BE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47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58952" y="2157984"/>
            <a:ext cx="512064" cy="512064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86000"/>
            <a:ext cx="51206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21C23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0779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6F4EE"/>
                </a:solidFill>
                <a:latin typeface="Aptos Display"/>
              </a:rPr>
              <a:t>Assign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1012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7CDC6"/>
                </a:solidFill>
                <a:latin typeface="Aptos"/>
              </a:rPr>
              <a:t>An admin claims the case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414016"/>
            <a:ext cx="896112" cy="0"/>
          </a:xfrm>
          <a:prstGeom prst="line">
            <a:avLst/>
          </a:prstGeom>
          <a:ln w="25400">
            <a:solidFill>
              <a:srgbClr val="5B7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47872" y="2157984"/>
            <a:ext cx="512064" cy="512064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286000"/>
            <a:ext cx="51206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21C23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90779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6F4EE"/>
                </a:solidFill>
                <a:latin typeface="Aptos Display"/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31012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7CDC6"/>
                </a:solidFill>
                <a:latin typeface="Aptos"/>
              </a:rPr>
              <a:t>Assigned admin validates 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02352" y="2414016"/>
            <a:ext cx="896112" cy="0"/>
          </a:xfrm>
          <a:prstGeom prst="line">
            <a:avLst/>
          </a:prstGeom>
          <a:ln w="25400">
            <a:solidFill>
              <a:srgbClr val="5B7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6792" y="2157984"/>
            <a:ext cx="512064" cy="512064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86000"/>
            <a:ext cx="51206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21C23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90779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6F4EE"/>
                </a:solidFill>
                <a:latin typeface="Aptos Display"/>
              </a:rPr>
              <a:t>Approve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31012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7CDC6"/>
                </a:solidFill>
                <a:latin typeface="Aptos"/>
              </a:rPr>
              <a:t>Two distinct admins approve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1" y="2414016"/>
            <a:ext cx="896113" cy="0"/>
          </a:xfrm>
          <a:prstGeom prst="line">
            <a:avLst/>
          </a:prstGeom>
          <a:ln w="25400">
            <a:solidFill>
              <a:srgbClr val="5B7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25711" y="2157984"/>
            <a:ext cx="512064" cy="512064"/>
          </a:xfrm>
          <a:prstGeom prst="ellipse">
            <a:avLst/>
          </a:prstGeom>
          <a:solidFill>
            <a:srgbClr val="DE6A5B"/>
          </a:solidFill>
          <a:ln>
            <a:solidFill>
              <a:srgbClr val="D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1" y="2286000"/>
            <a:ext cx="51206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21C23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1" y="2907792"/>
            <a:ext cx="2240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6F4EE"/>
                </a:solidFill>
                <a:latin typeface="Aptos Display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1" y="331012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7CDC6"/>
                </a:solidFill>
                <a:latin typeface="Aptos"/>
              </a:rPr>
              <a:t>Authorized human records rationale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" y="4617720"/>
            <a:ext cx="10561320" cy="86868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92040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DC8A6"/>
                </a:solidFill>
                <a:latin typeface="Aptos"/>
              </a:rPr>
              <a:t>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55464"/>
            <a:ext cx="8412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6F4EE"/>
                </a:solidFill>
                <a:latin typeface="Aptos"/>
              </a:rPr>
              <a:t>No agent or score endpoint can persist approved or rejected without an authorized human review record.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650992"/>
            <a:ext cx="9601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B7CDC6"/>
                </a:solidFill>
                <a:latin typeface="Aptos"/>
              </a:rPr>
              <a:t>Feedback can restart validation or rescore the case; approvals are cleared when the underlying analysis changes.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93A7A1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3A7A1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BUILT TO BE CHALLENGED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A synthetic benchmark exercises the failure modes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828800"/>
            <a:ext cx="13716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4AB1CD"/>
                </a:solidFill>
                <a:latin typeface="Aptos Display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1371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748488"/>
                </a:solidFill>
                <a:latin typeface="Aptos"/>
              </a:rPr>
              <a:t>SCHEMES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1828800"/>
            <a:ext cx="18288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5DC8A6"/>
                </a:solidFill>
                <a:latin typeface="Aptos Display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2359152"/>
            <a:ext cx="1828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748488"/>
                </a:solidFill>
                <a:latin typeface="Apto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828800"/>
            <a:ext cx="1645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4B24A"/>
                </a:solidFill>
                <a:latin typeface="Aptos Display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359152"/>
            <a:ext cx="1645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748488"/>
                </a:solidFill>
                <a:latin typeface="Aptos"/>
              </a:rPr>
              <a:t>CASE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828800"/>
            <a:ext cx="2560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DE6A5B"/>
                </a:solidFill>
                <a:latin typeface="Aptos Display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359152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748488"/>
                </a:solidFill>
                <a:latin typeface="Aptos"/>
              </a:rPr>
              <a:t>AI-ONLY FINAL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1080820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FD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3200400"/>
            <a:ext cx="118872" cy="118872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316382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1C23"/>
                </a:solidFill>
                <a:latin typeface="Aptos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163824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48488"/>
                </a:solidFill>
                <a:latin typeface="Aptos"/>
              </a:rPr>
              <a:t>Proceed to scoring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" y="3794760"/>
            <a:ext cx="118872" cy="118872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375818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1C23"/>
                </a:solidFill>
                <a:latin typeface="Aptos"/>
              </a:rPr>
              <a:t>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3758184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48488"/>
                </a:solidFill>
                <a:latin typeface="Aptos"/>
              </a:rPr>
              <a:t>Request more information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389120"/>
            <a:ext cx="118872" cy="118872"/>
          </a:xfrm>
          <a:prstGeom prst="ellipse">
            <a:avLst/>
          </a:prstGeom>
          <a:solidFill>
            <a:srgbClr val="DE6A5B"/>
          </a:solidFill>
          <a:ln>
            <a:solidFill>
              <a:srgbClr val="D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435254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1C23"/>
                </a:solidFill>
                <a:latin typeface="Aptos"/>
              </a:rPr>
              <a:t>Contradictory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4352544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48488"/>
                </a:solidFill>
                <a:latin typeface="Aptos"/>
              </a:rPr>
              <a:t>Clarify before scoring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3200400"/>
            <a:ext cx="118872" cy="118872"/>
          </a:xfrm>
          <a:prstGeom prst="ellipse">
            <a:avLst/>
          </a:prstGeom>
          <a:solidFill>
            <a:srgbClr val="DE6A5B"/>
          </a:solidFill>
          <a:ln>
            <a:solidFill>
              <a:srgbClr val="DE6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7" y="316382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1C23"/>
                </a:solidFill>
                <a:latin typeface="Aptos"/>
              </a:rPr>
              <a:t>Low-quality / suspicious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163824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48488"/>
                </a:solidFill>
                <a:latin typeface="Aptos"/>
              </a:rPr>
              <a:t>Manual verification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794760"/>
            <a:ext cx="118872" cy="118872"/>
          </a:xfrm>
          <a:prstGeom prst="ellipse">
            <a:avLst/>
          </a:prstGeom>
          <a:solidFill>
            <a:srgbClr val="4AB1CD"/>
          </a:solidFill>
          <a:ln>
            <a:solidFill>
              <a:srgbClr val="4AB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7" y="375818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1C23"/>
                </a:solidFill>
                <a:latin typeface="Aptos"/>
              </a:rPr>
              <a:t>Duplicate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758184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48488"/>
                </a:solidFill>
                <a:latin typeface="Aptos"/>
              </a:rPr>
              <a:t>Duplicate review</a:t>
            </a:r>
          </a:p>
        </p:txBody>
      </p:sp>
      <p:sp>
        <p:nvSpPr>
          <p:cNvPr id="31" name="Oval 30"/>
          <p:cNvSpPr/>
          <p:nvPr/>
        </p:nvSpPr>
        <p:spPr>
          <a:xfrm>
            <a:off x="6263640" y="4389120"/>
            <a:ext cx="118872" cy="118872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7" y="4352544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1C23"/>
                </a:solidFill>
                <a:latin typeface="Aptos"/>
              </a:rPr>
              <a:t>Borderline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352544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748488"/>
                </a:solidFill>
                <a:latin typeface="Aptos"/>
              </a:rPr>
              <a:t>Conditional human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650992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F2D35"/>
                </a:solidFill>
                <a:latin typeface="Aptos"/>
              </a:rPr>
              <a:t>Acceptance targets include 100% required-document classification, contradiction recall, duplicate recall, and zero AI-only final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5DC8A6"/>
                </a:solidFill>
                <a:latin typeface="Aptos"/>
              </a:rPr>
              <a:t>RESTRICTED MEANS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6F4EE"/>
                </a:solidFill>
                <a:latin typeface="Aptos Display"/>
              </a:rPr>
              <a:t>The target operating model protects sensitive evidence at the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B2C3BE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475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828800"/>
            <a:ext cx="5074920" cy="361188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76272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DC8A6"/>
                </a:solidFill>
                <a:latin typeface="Aptos"/>
              </a:rPr>
              <a:t>RESTRICTED ZONE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743200"/>
            <a:ext cx="109728" cy="109728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2670048"/>
            <a:ext cx="38953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Synthetic government/citizen records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163824"/>
            <a:ext cx="109728" cy="109728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090672"/>
            <a:ext cx="38953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Raw uploads and extracted text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584448"/>
            <a:ext cx="109728" cy="109728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3511296"/>
            <a:ext cx="38953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Embeddings and duplicate checks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005072"/>
            <a:ext cx="109728" cy="109728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3931920"/>
            <a:ext cx="38953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Analysis events and reviewer decisions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425696"/>
            <a:ext cx="109728" cy="109728"/>
          </a:xfrm>
          <a:prstGeom prst="ellipse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" y="4352544"/>
            <a:ext cx="38953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Local Ollama or approved on-prem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257800" cy="3611880"/>
          </a:xfrm>
          <a:prstGeom prst="roundRect">
            <a:avLst>
              <a:gd name="adj" fmla="val 8000"/>
            </a:avLst>
          </a:prstGeom>
          <a:solidFill>
            <a:srgbClr val="2A3D42"/>
          </a:solidFill>
          <a:ln>
            <a:solidFill>
              <a:srgbClr val="485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7627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B24A"/>
                </a:solidFill>
                <a:latin typeface="Aptos"/>
              </a:rPr>
              <a:t>CONTROLLED EGRESS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2743200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2670048"/>
            <a:ext cx="40325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Provider abstraction selects the model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163824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7416" y="3090672"/>
            <a:ext cx="40325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Cloud use limited to approved non-sensitive data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584448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3511296"/>
            <a:ext cx="40325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Optional organisation check sends name only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4005072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3931920"/>
            <a:ext cx="40325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Portal and identity services represented by adapters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425696"/>
            <a:ext cx="109728" cy="109728"/>
          </a:xfrm>
          <a:prstGeom prst="ellipse">
            <a:avLst/>
          </a:prstGeom>
          <a:solidFill>
            <a:srgbClr val="F4B24A"/>
          </a:solidFill>
          <a:ln>
            <a:solidFill>
              <a:srgbClr val="F4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57416" y="4352544"/>
            <a:ext cx="403250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6F4EE"/>
                </a:solidFill>
                <a:latin typeface="Aptos"/>
              </a:rPr>
              <a:t>CORS and secrets require hardening before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60720"/>
            <a:ext cx="106070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1">
                <a:solidFill>
                  <a:srgbClr val="C0D4CE"/>
                </a:solidFill>
                <a:latin typeface="Aptos"/>
              </a:rPr>
              <a:t>The architecture can move from POC defaults to an isolated deployment without changing the reviewer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93A7A1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93A7A1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solidFill>
              <a:srgbClr val="F6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267"/>
                </a:solidFill>
                <a:latin typeface="Aptos"/>
              </a:rPr>
              <a:t>REVIEWER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698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21C23"/>
                </a:solidFill>
                <a:latin typeface="Aptos Display"/>
              </a:rPr>
              <a:t>A five-minute path through the working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93192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748488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81328"/>
            <a:ext cx="10972800" cy="0"/>
          </a:xfrm>
          <a:prstGeom prst="line">
            <a:avLst/>
          </a:prstGeom>
          <a:ln w="1270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828800"/>
            <a:ext cx="640080" cy="438912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DC8A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883664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21C23"/>
                </a:solidFill>
                <a:latin typeface="Aptos Display"/>
              </a:rPr>
              <a:t>Log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01952"/>
            <a:ext cx="7132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Applicant and admin roles are enforced server-side.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3312" y="2048256"/>
            <a:ext cx="219456" cy="0"/>
          </a:xfrm>
          <a:prstGeom prst="line">
            <a:avLst/>
          </a:prstGeom>
          <a:ln w="1778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2578608"/>
            <a:ext cx="640080" cy="438912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97479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DC8A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633472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21C23"/>
                </a:solidFill>
                <a:latin typeface="Aptos Display"/>
              </a:rPr>
              <a:t>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51760"/>
            <a:ext cx="7132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Choose a scheme and upload a mixed document bundle.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2" y="2798063"/>
            <a:ext cx="219456" cy="0"/>
          </a:xfrm>
          <a:prstGeom prst="line">
            <a:avLst/>
          </a:prstGeom>
          <a:ln w="1778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3328415"/>
            <a:ext cx="640080" cy="438912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447287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DC8A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383279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21C23"/>
                </a:solidFill>
                <a:latin typeface="Aptos Display"/>
              </a:rP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401568"/>
            <a:ext cx="7132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Watch ingestion, extraction, validation, and duplicate checks.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2" y="3547872"/>
            <a:ext cx="219456" cy="0"/>
          </a:xfrm>
          <a:prstGeom prst="line">
            <a:avLst/>
          </a:prstGeom>
          <a:ln w="1778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3232" y="4078224"/>
            <a:ext cx="640080" cy="438912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197096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DC8A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133087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21C23"/>
                </a:solidFill>
                <a:latin typeface="Aptos Display"/>
              </a:rPr>
              <a:t>Intervene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51376"/>
            <a:ext cx="7132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Give validation or scoring feedback; see the case resume.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53312" y="4297680"/>
            <a:ext cx="219456" cy="0"/>
          </a:xfrm>
          <a:prstGeom prst="line">
            <a:avLst/>
          </a:prstGeom>
          <a:ln w="1778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4828031"/>
            <a:ext cx="640080" cy="438912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946903"/>
            <a:ext cx="6400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5DC8A6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4882895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21C23"/>
                </a:solidFill>
                <a:latin typeface="Aptos Display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901183"/>
            <a:ext cx="71323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F2D35"/>
                </a:solidFill>
                <a:latin typeface="Aptos"/>
              </a:rPr>
              <a:t>Approve the score, then record a rationale-backed decision.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2" y="5047488"/>
            <a:ext cx="219456" cy="0"/>
          </a:xfrm>
          <a:prstGeom prst="line">
            <a:avLst/>
          </a:prstGeom>
          <a:ln w="17780">
            <a:solidFill>
              <a:srgbClr val="CFD8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13232" y="5715000"/>
            <a:ext cx="10744200" cy="384048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>
            <a:solidFill>
              <a:srgbClr val="E7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815584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8267"/>
                </a:solidFill>
                <a:latin typeface="Aptos"/>
              </a:rPr>
              <a:t>Demo data: data/applications/ | Local run: scripts/run_dev.ps1 | API docs: /docs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748488"/>
                </a:solidFill>
                <a:latin typeface="Aptos"/>
              </a:rPr>
              <a:t>PROMPT PIONEERS | APPLICATION INTELLIGENCE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6510528"/>
            <a:ext cx="4251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1" i="0">
                <a:solidFill>
                  <a:srgbClr val="748488"/>
                </a:solidFill>
                <a:latin typeface="Aptos"/>
              </a:rPr>
              <a:t>DIRECTORATE OF ENVIRONMENT AND CLIMATE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C8A6"/>
          </a:solidFill>
          <a:ln>
            <a:solidFill>
              <a:srgbClr val="5DC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1C23"/>
                </a:solidFill>
                <a:latin typeface="Aptos"/>
              </a:rPr>
              <a:t>THE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53312"/>
            <a:ext cx="676656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121C23"/>
                </a:solidFill>
                <a:latin typeface="Aptos Display"/>
              </a:rPr>
              <a:t>Faster review.
Stronger evidence.
Human accountability.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3822191"/>
            <a:ext cx="6217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1F2D35"/>
                </a:solidFill>
                <a:latin typeface="Aptos"/>
              </a:rPr>
              <a:t>Prompt Pioneers turns application intelligence into a transparent, traceable service for the people who still own the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17320"/>
            <a:ext cx="3017520" cy="3017520"/>
          </a:xfrm>
          <a:prstGeom prst="roundRect">
            <a:avLst>
              <a:gd name="adj" fmla="val 8000"/>
            </a:avLst>
          </a:prstGeom>
          <a:solidFill>
            <a:srgbClr val="121C23"/>
          </a:solidFill>
          <a:ln>
            <a:solidFill>
              <a:srgbClr val="121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810512"/>
            <a:ext cx="2194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F4B24A"/>
                </a:solidFill>
                <a:latin typeface="Aptos"/>
              </a:rPr>
              <a:t>READY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04288"/>
            <a:ext cx="21945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900" b="1" i="0">
                <a:solidFill>
                  <a:srgbClr val="F6F4EE"/>
                </a:solidFill>
                <a:latin typeface="Aptos Display"/>
              </a:rPr>
              <a:t>the next
review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3703320"/>
            <a:ext cx="1737360" cy="0"/>
          </a:xfrm>
          <a:prstGeom prst="line">
            <a:avLst/>
          </a:prstGeom>
          <a:ln w="25400">
            <a:solidFill>
              <a:srgbClr val="5DC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0" y="3913632"/>
            <a:ext cx="21945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BED3CD"/>
                </a:solidFill>
                <a:latin typeface="Aptos"/>
              </a:rPr>
              <a:t>Synthetic POC
On-premise-ready architecture
Human-led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473952"/>
            <a:ext cx="8046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F2D35"/>
                </a:solidFill>
                <a:latin typeface="Aptos"/>
              </a:rPr>
              <a:t>PROMPT PIONEERS | DIRECTORATE OF ENVIRONMENT AND CLIMATE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